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32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11" r:id="rId29"/>
    <p:sldId id="410" r:id="rId30"/>
    <p:sldId id="412" r:id="rId31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10" dt="2026-09-22T09:15:23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37"/>
    <p:restoredTop sz="94688"/>
  </p:normalViewPr>
  <p:slideViewPr>
    <p:cSldViewPr snapToGrid="0">
      <p:cViewPr varScale="1">
        <p:scale>
          <a:sx n="115" d="100"/>
          <a:sy n="115" d="100"/>
        </p:scale>
        <p:origin x="216" y="2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727D2BB6-718A-5CC8-AEE7-01241D467CEF}"/>
    <pc:docChg chg="undo custSel addSld delSld modSld sldOrd">
      <pc:chgData name="H. Shine" userId="fc27ff59f79380b6" providerId="LiveId" clId="{727D2BB6-718A-5CC8-AEE7-01241D467CEF}" dt="2026-09-23T06:00:12.580" v="1774" actId="20577"/>
      <pc:docMkLst>
        <pc:docMk/>
      </pc:docMkLst>
      <pc:sldChg chg="modSp mod">
        <pc:chgData name="H. Shine" userId="fc27ff59f79380b6" providerId="LiveId" clId="{727D2BB6-718A-5CC8-AEE7-01241D467CEF}" dt="2026-09-23T06:00:12.580" v="1774" actId="20577"/>
        <pc:sldMkLst>
          <pc:docMk/>
          <pc:sldMk cId="1619921417" sldId="256"/>
        </pc:sldMkLst>
        <pc:spChg chg="mod">
          <ac:chgData name="H. Shine" userId="fc27ff59f79380b6" providerId="LiveId" clId="{727D2BB6-718A-5CC8-AEE7-01241D467CEF}" dt="2026-09-23T05:16:38.373" v="1772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727D2BB6-718A-5CC8-AEE7-01241D467CEF}" dt="2026-09-23T06:00:12.580" v="1774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  <pc:sldChg chg="addSp delSp modSp add del mod">
        <pc:chgData name="H. Shine" userId="fc27ff59f79380b6" providerId="LiveId" clId="{727D2BB6-718A-5CC8-AEE7-01241D467CEF}" dt="2026-09-23T04:42:33.707" v="1578" actId="2696"/>
        <pc:sldMkLst>
          <pc:docMk/>
          <pc:sldMk cId="299272288" sldId="409"/>
        </pc:sldMkLst>
        <pc:spChg chg="mod">
          <ac:chgData name="H. Shine" userId="fc27ff59f79380b6" providerId="LiveId" clId="{727D2BB6-718A-5CC8-AEE7-01241D467CEF}" dt="2026-09-23T02:01:10.791" v="578" actId="20577"/>
          <ac:spMkLst>
            <pc:docMk/>
            <pc:sldMk cId="299272288" sldId="409"/>
            <ac:spMk id="5" creationId="{B603EA3A-5CFB-3B79-590A-1EEF91B2D5C1}"/>
          </ac:spMkLst>
        </pc:spChg>
        <pc:picChg chg="del">
          <ac:chgData name="H. Shine" userId="fc27ff59f79380b6" providerId="LiveId" clId="{727D2BB6-718A-5CC8-AEE7-01241D467CEF}" dt="2026-09-23T01:52:36.512" v="469" actId="478"/>
          <ac:picMkLst>
            <pc:docMk/>
            <pc:sldMk cId="299272288" sldId="409"/>
            <ac:picMk id="6" creationId="{AA2CC755-ADFE-86F7-294F-047F3D244DF6}"/>
          </ac:picMkLst>
        </pc:picChg>
        <pc:picChg chg="add del mod">
          <ac:chgData name="H. Shine" userId="fc27ff59f79380b6" providerId="LiveId" clId="{727D2BB6-718A-5CC8-AEE7-01241D467CEF}" dt="2026-09-23T04:37:22.802" v="1293" actId="478"/>
          <ac:picMkLst>
            <pc:docMk/>
            <pc:sldMk cId="299272288" sldId="409"/>
            <ac:picMk id="7" creationId="{1F1FFC32-E7DC-C3CB-90E7-A6A52ECA006B}"/>
          </ac:picMkLst>
        </pc:picChg>
        <pc:picChg chg="add mod">
          <ac:chgData name="H. Shine" userId="fc27ff59f79380b6" providerId="LiveId" clId="{727D2BB6-718A-5CC8-AEE7-01241D467CEF}" dt="2026-09-23T04:37:21.168" v="1292"/>
          <ac:picMkLst>
            <pc:docMk/>
            <pc:sldMk cId="299272288" sldId="409"/>
            <ac:picMk id="8" creationId="{0F13FA10-55FC-42D1-9158-904B40084703}"/>
          </ac:picMkLst>
        </pc:picChg>
        <pc:picChg chg="del">
          <ac:chgData name="H. Shine" userId="fc27ff59f79380b6" providerId="LiveId" clId="{727D2BB6-718A-5CC8-AEE7-01241D467CEF}" dt="2026-09-23T01:52:38.156" v="471" actId="478"/>
          <ac:picMkLst>
            <pc:docMk/>
            <pc:sldMk cId="299272288" sldId="409"/>
            <ac:picMk id="10" creationId="{4D5F10B8-9AE3-6DD4-62AA-13F5EC011690}"/>
          </ac:picMkLst>
        </pc:picChg>
        <pc:picChg chg="del">
          <ac:chgData name="H. Shine" userId="fc27ff59f79380b6" providerId="LiveId" clId="{727D2BB6-718A-5CC8-AEE7-01241D467CEF}" dt="2026-09-23T01:52:37.290" v="470" actId="478"/>
          <ac:picMkLst>
            <pc:docMk/>
            <pc:sldMk cId="299272288" sldId="409"/>
            <ac:picMk id="13" creationId="{240BD3A7-A1AF-4483-0049-FD80C693890F}"/>
          </ac:picMkLst>
        </pc:picChg>
      </pc:sldChg>
      <pc:sldChg chg="addSp delSp modSp add mod ord">
        <pc:chgData name="H. Shine" userId="fc27ff59f79380b6" providerId="LiveId" clId="{727D2BB6-718A-5CC8-AEE7-01241D467CEF}" dt="2026-09-23T04:57:31.664" v="1768" actId="20578"/>
        <pc:sldMkLst>
          <pc:docMk/>
          <pc:sldMk cId="3873916003" sldId="410"/>
        </pc:sldMkLst>
        <pc:spChg chg="mod">
          <ac:chgData name="H. Shine" userId="fc27ff59f79380b6" providerId="LiveId" clId="{727D2BB6-718A-5CC8-AEE7-01241D467CEF}" dt="2026-09-23T04:56:54.748" v="1755" actId="113"/>
          <ac:spMkLst>
            <pc:docMk/>
            <pc:sldMk cId="3873916003" sldId="410"/>
            <ac:spMk id="5" creationId="{E9112DBD-C8FF-E79C-5C1D-FCB7C91E287C}"/>
          </ac:spMkLst>
        </pc:spChg>
        <pc:spChg chg="add del mod">
          <ac:chgData name="H. Shine" userId="fc27ff59f79380b6" providerId="LiveId" clId="{727D2BB6-718A-5CC8-AEE7-01241D467CEF}" dt="2026-09-23T04:18:50.282" v="585" actId="478"/>
          <ac:spMkLst>
            <pc:docMk/>
            <pc:sldMk cId="3873916003" sldId="410"/>
            <ac:spMk id="8" creationId="{5F4B4E57-834F-6735-8ED2-AC67290FE595}"/>
          </ac:spMkLst>
        </pc:spChg>
        <pc:spChg chg="add del mod">
          <ac:chgData name="H. Shine" userId="fc27ff59f79380b6" providerId="LiveId" clId="{727D2BB6-718A-5CC8-AEE7-01241D467CEF}" dt="2026-09-23T04:19:29.058" v="602" actId="478"/>
          <ac:spMkLst>
            <pc:docMk/>
            <pc:sldMk cId="3873916003" sldId="410"/>
            <ac:spMk id="12" creationId="{244E152D-A331-6296-E7C6-159DC3C4903A}"/>
          </ac:spMkLst>
        </pc:spChg>
        <pc:picChg chg="del">
          <ac:chgData name="H. Shine" userId="fc27ff59f79380b6" providerId="LiveId" clId="{727D2BB6-718A-5CC8-AEE7-01241D467CEF}" dt="2026-09-23T04:18:38.930" v="580" actId="478"/>
          <ac:picMkLst>
            <pc:docMk/>
            <pc:sldMk cId="3873916003" sldId="410"/>
            <ac:picMk id="7" creationId="{09785374-05BD-EF58-EC21-E9CF59A0262F}"/>
          </ac:picMkLst>
        </pc:picChg>
        <pc:picChg chg="add del mod">
          <ac:chgData name="H. Shine" userId="fc27ff59f79380b6" providerId="LiveId" clId="{727D2BB6-718A-5CC8-AEE7-01241D467CEF}" dt="2026-09-23T04:19:07.401" v="594" actId="478"/>
          <ac:picMkLst>
            <pc:docMk/>
            <pc:sldMk cId="3873916003" sldId="410"/>
            <ac:picMk id="10" creationId="{B9F47481-5DD4-4EE5-1B4C-918D2D7CA7A0}"/>
          </ac:picMkLst>
        </pc:picChg>
        <pc:picChg chg="add del mod">
          <ac:chgData name="H. Shine" userId="fc27ff59f79380b6" providerId="LiveId" clId="{727D2BB6-718A-5CC8-AEE7-01241D467CEF}" dt="2026-09-23T04:37:24.833" v="1294" actId="478"/>
          <ac:picMkLst>
            <pc:docMk/>
            <pc:sldMk cId="3873916003" sldId="410"/>
            <ac:picMk id="14" creationId="{2CFE2E1E-A619-3C63-E2BA-39EF36699E1D}"/>
          </ac:picMkLst>
        </pc:picChg>
        <pc:picChg chg="add mod">
          <ac:chgData name="H. Shine" userId="fc27ff59f79380b6" providerId="LiveId" clId="{727D2BB6-718A-5CC8-AEE7-01241D467CEF}" dt="2026-09-23T04:43:35.917" v="1699" actId="1076"/>
          <ac:picMkLst>
            <pc:docMk/>
            <pc:sldMk cId="3873916003" sldId="410"/>
            <ac:picMk id="15" creationId="{3ED1AEBE-9A62-418A-D89A-95435E10E46F}"/>
          </ac:picMkLst>
        </pc:picChg>
      </pc:sldChg>
      <pc:sldChg chg="delSp modSp add mod">
        <pc:chgData name="H. Shine" userId="fc27ff59f79380b6" providerId="LiveId" clId="{727D2BB6-718A-5CC8-AEE7-01241D467CEF}" dt="2026-09-23T04:35:32.701" v="1270" actId="20577"/>
        <pc:sldMkLst>
          <pc:docMk/>
          <pc:sldMk cId="3551479279" sldId="411"/>
        </pc:sldMkLst>
        <pc:spChg chg="mod">
          <ac:chgData name="H. Shine" userId="fc27ff59f79380b6" providerId="LiveId" clId="{727D2BB6-718A-5CC8-AEE7-01241D467CEF}" dt="2026-09-23T04:35:32.701" v="1270" actId="20577"/>
          <ac:spMkLst>
            <pc:docMk/>
            <pc:sldMk cId="3551479279" sldId="411"/>
            <ac:spMk id="5" creationId="{52353EED-4A62-7636-AD86-9D08ECFD72F1}"/>
          </ac:spMkLst>
        </pc:spChg>
        <pc:picChg chg="del">
          <ac:chgData name="H. Shine" userId="fc27ff59f79380b6" providerId="LiveId" clId="{727D2BB6-718A-5CC8-AEE7-01241D467CEF}" dt="2026-09-23T04:28:26.466" v="680" actId="478"/>
          <ac:picMkLst>
            <pc:docMk/>
            <pc:sldMk cId="3551479279" sldId="411"/>
            <ac:picMk id="7" creationId="{25D2091B-AAFC-A43D-7CC8-C43F90CE0F39}"/>
          </ac:picMkLst>
        </pc:picChg>
      </pc:sldChg>
      <pc:sldChg chg="addSp modSp add mod">
        <pc:chgData name="H. Shine" userId="fc27ff59f79380b6" providerId="LiveId" clId="{727D2BB6-718A-5CC8-AEE7-01241D467CEF}" dt="2026-09-23T04:57:20.975" v="1767" actId="1076"/>
        <pc:sldMkLst>
          <pc:docMk/>
          <pc:sldMk cId="3861609375" sldId="412"/>
        </pc:sldMkLst>
        <pc:spChg chg="mod">
          <ac:chgData name="H. Shine" userId="fc27ff59f79380b6" providerId="LiveId" clId="{727D2BB6-718A-5CC8-AEE7-01241D467CEF}" dt="2026-09-23T04:57:19.331" v="1766" actId="20577"/>
          <ac:spMkLst>
            <pc:docMk/>
            <pc:sldMk cId="3861609375" sldId="412"/>
            <ac:spMk id="5" creationId="{EA288A50-B68A-0808-7743-A1C96B66E18F}"/>
          </ac:spMkLst>
        </pc:spChg>
        <pc:picChg chg="add mod">
          <ac:chgData name="H. Shine" userId="fc27ff59f79380b6" providerId="LiveId" clId="{727D2BB6-718A-5CC8-AEE7-01241D467CEF}" dt="2026-09-23T04:57:20.975" v="1767" actId="1076"/>
          <ac:picMkLst>
            <pc:docMk/>
            <pc:sldMk cId="3861609375" sldId="412"/>
            <ac:picMk id="6" creationId="{85C1CBB0-5F48-2B11-3A32-2F897365B8BC}"/>
          </ac:picMkLst>
        </pc:picChg>
      </pc:sldChg>
    </pc:docChg>
  </pc:docChgLst>
  <pc:docChgLst>
    <pc:chgData name="H. Shine" userId="fc27ff59f79380b6" providerId="LiveId" clId="{49B3E6E0-4B1E-4AD6-A829-DE648B7A64C9}"/>
    <pc:docChg chg="undo custSel addSld delSld modSld sldOrd">
      <pc:chgData name="H. Shine" userId="fc27ff59f79380b6" providerId="LiveId" clId="{49B3E6E0-4B1E-4AD6-A829-DE648B7A64C9}" dt="2026-09-22T09:45:04.764" v="929" actId="1076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addSp modSp mod">
        <pc:chgData name="H. Shine" userId="fc27ff59f79380b6" providerId="LiveId" clId="{49B3E6E0-4B1E-4AD6-A829-DE648B7A64C9}" dt="2026-09-22T09:33:02.899" v="928" actId="1076"/>
        <pc:sldMkLst>
          <pc:docMk/>
          <pc:sldMk cId="1652007512" sldId="406"/>
        </pc:sldMkLst>
        <pc:picChg chg="add mod">
          <ac:chgData name="H. Shine" userId="fc27ff59f79380b6" providerId="LiveId" clId="{49B3E6E0-4B1E-4AD6-A829-DE648B7A64C9}" dt="2026-09-22T09:33:02.899" v="928" actId="1076"/>
          <ac:picMkLst>
            <pc:docMk/>
            <pc:sldMk cId="1652007512" sldId="406"/>
            <ac:picMk id="7" creationId="{E9C79E18-20FD-A393-9AD6-2E8EE63F6A51}"/>
          </ac:picMkLst>
        </pc:picChg>
      </pc:sldChg>
      <pc:sldChg chg="delSp modSp add mod">
        <pc:chgData name="H. Shine" userId="fc27ff59f79380b6" providerId="LiveId" clId="{49B3E6E0-4B1E-4AD6-A829-DE648B7A64C9}" dt="2026-09-22T09:45:04.764" v="929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45:04.764" v="929" actId="1076"/>
          <ac:picMkLst>
            <pc:docMk/>
            <pc:sldMk cId="4029090939" sldId="408"/>
            <ac:picMk id="10" creationId="{CCB26D37-53AC-B580-00F9-D53D93CF60D7}"/>
          </ac:picMkLst>
        </pc:picChg>
        <pc:picChg chg="del">
          <ac:chgData name="H. Shine" userId="fc27ff59f79380b6" providerId="LiveId" clId="{49B3E6E0-4B1E-4AD6-A829-DE648B7A64C9}" dt="2026-09-22T09:15:25.224" v="911" actId="478"/>
          <ac:picMkLst>
            <pc:docMk/>
            <pc:sldMk cId="4029090939" sldId="408"/>
            <ac:picMk id="12" creationId="{71FDD60E-7251-1390-687C-BABB44417FA1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2026/9/23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ECC5-4122-734F-B1A1-0BA1610D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08CCCFB-F5DC-2641-D7AD-9696CD2E7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ABEA87-16D3-B4BF-B5D8-58B5E95ED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CAC308-807F-4B88-051D-EF28B2923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24775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8951E-F6A5-A5AD-E509-975DCD93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965E87-AACA-920A-2607-382BEEB1C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64C616-B153-DDEB-FC4F-F2B7BDB3D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3DCA17-3E84-12AF-6062-4FC289BE6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25729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153D-020D-D017-B541-0437C6B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1ED398-DDF0-615B-4126-8773DC8C5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5A95E0-E7CE-FC6B-1C3B-33E1C8B07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BBCD31-C2CD-1945-5B17-C5B2A05DB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26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 dirty="0"/>
              <a:t>CIM</a:t>
            </a:r>
            <a:r>
              <a:rPr kumimoji="1" lang="zh-CN" altLang="en-US" dirty="0"/>
              <a:t> </a:t>
            </a:r>
            <a:r>
              <a:rPr kumimoji="1" lang="en-US" altLang="zh-CN" dirty="0"/>
              <a:t>Roofline</a:t>
            </a:r>
            <a:r>
              <a:rPr kumimoji="1" lang="zh-CN" altLang="en-US" dirty="0"/>
              <a:t> 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 dirty="0"/>
              <a:t>邵瀚雍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2026</a:t>
            </a:r>
            <a:r>
              <a:rPr kumimoji="1" lang="zh-CN" altLang="en-US" dirty="0"/>
              <a:t>年</a:t>
            </a:r>
            <a:r>
              <a:rPr kumimoji="1" lang="en-US" altLang="zh-CN" dirty="0"/>
              <a:t>9</a:t>
            </a:r>
            <a:r>
              <a:rPr kumimoji="1" lang="zh-CN" altLang="en-US" dirty="0"/>
              <a:t>月</a:t>
            </a:r>
            <a:r>
              <a:rPr kumimoji="1" lang="en-US" altLang="zh-CN"/>
              <a:t>23</a:t>
            </a:r>
            <a:r>
              <a:rPr kumimoji="1" lang="zh-CN" altLang="en-US"/>
              <a:t>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A. 适配</a:t>
                      </a:r>
                      <a:r>
                        <a:rPr lang="zh-CN" altLang="en-US" sz="1600" dirty="0"/>
                        <a:t>区间的</a:t>
                      </a:r>
                      <a:r>
                        <a:rPr lang="zh-CN" sz="1600" dirty="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C79E18-20FD-A393-9AD6-2E8EE63F6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846" y="29383"/>
            <a:ext cx="3468829" cy="17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3820E80-2D4F-56E6-420A-CFDF2D236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200" y="1784515"/>
            <a:ext cx="9470764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11687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E338-E785-C512-6AFB-7061E589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B0FCAF-2C29-9451-D30D-C9C425002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418F9D7-EC19-837F-331B-138334DB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ED44EC-A92D-00AA-3EFE-93CE3472D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2353EED-4A62-7636-AD86-9D08ECFD72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320600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理论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分析，也就是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(a)</a:t>
            </a: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典型的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驻留模式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" altLang="zh-CN" sz="1600" b="1" dirty="0"/>
              <a:t>Weight-static</a:t>
            </a:r>
            <a:r>
              <a:rPr lang="zh-CN" altLang="en-US" sz="1600" b="1" dirty="0"/>
              <a:t>（存储足够大，纯</a:t>
            </a:r>
            <a:r>
              <a:rPr lang="en-US" altLang="zh-CN" sz="1600" b="1" dirty="0"/>
              <a:t>Inference</a:t>
            </a:r>
            <a:r>
              <a:rPr lang="zh-CN" altLang="en-US" sz="1600" b="1" dirty="0"/>
              <a:t>）</a:t>
            </a:r>
            <a:r>
              <a:rPr lang="zh-CN" altLang="en" sz="1600" dirty="0"/>
              <a:t>： </a:t>
            </a:r>
            <a:r>
              <a:rPr lang="zh-CN" altLang="en-US" sz="1600" dirty="0"/>
              <a:t>权重已经驻留，分析窗口内不再写入</a:t>
            </a:r>
          </a:p>
          <a:p>
            <a:pPr>
              <a:spcAft>
                <a:spcPts val="600"/>
              </a:spcAft>
            </a:pPr>
            <a:r>
              <a:rPr lang="en" altLang="zh-CN" sz="1600" b="1" dirty="0"/>
              <a:t>Per-use</a:t>
            </a:r>
            <a:r>
              <a:rPr lang="en" altLang="zh-CN" sz="1600" dirty="0"/>
              <a:t> </a:t>
            </a:r>
            <a:r>
              <a:rPr lang="en" altLang="zh-CN" sz="1600" b="1" dirty="0"/>
              <a:t>reloaded</a:t>
            </a:r>
            <a:r>
              <a:rPr lang="zh-CN" altLang="en-US" sz="1600" b="1" dirty="0"/>
              <a:t>（小空间，近似</a:t>
            </a:r>
            <a:r>
              <a:rPr lang="en-US" altLang="zh-CN" sz="1600" b="1" dirty="0"/>
              <a:t>Training</a:t>
            </a:r>
            <a:r>
              <a:rPr lang="zh-CN" altLang="en-US" sz="1600" b="1" dirty="0"/>
              <a:t>）</a:t>
            </a:r>
            <a:r>
              <a:rPr lang="zh-CN" altLang="en" sz="1600" dirty="0"/>
              <a:t>： </a:t>
            </a:r>
            <a:r>
              <a:rPr lang="zh-CN" altLang="en-US" sz="1600" dirty="0"/>
              <a:t>每次使用前，完整写入本次要用的权重</a:t>
            </a:r>
          </a:p>
          <a:p>
            <a:pPr>
              <a:spcAft>
                <a:spcPts val="600"/>
              </a:spcAft>
            </a:pPr>
            <a:endParaRPr lang="en-US" altLang="zh-CN" sz="1600" dirty="0"/>
          </a:p>
          <a:p>
            <a:r>
              <a:rPr lang="zh-CN" altLang="zh-CN" sz="1600" dirty="0"/>
              <a:t>定义 resident 矩阵为：</a:t>
            </a:r>
            <a:r>
              <a:rPr lang="en-US" altLang="zh-CN" sz="1600" dirty="0"/>
              <a:t>W</a:t>
            </a:r>
            <a:r>
              <a:rPr lang="zh-CN" altLang="en-US" sz="1600" dirty="0"/>
              <a:t> </a:t>
            </a:r>
            <a:r>
              <a:rPr lang="en-US" altLang="zh-CN" sz="1600" dirty="0"/>
              <a:t>[N,</a:t>
            </a:r>
            <a:r>
              <a:rPr lang="zh-CN" altLang="en-US" sz="1600" dirty="0"/>
              <a:t> </a:t>
            </a:r>
            <a:r>
              <a:rPr lang="en-US" altLang="zh-CN" sz="1600" dirty="0"/>
              <a:t>K]</a:t>
            </a:r>
            <a:r>
              <a:rPr lang="zh-CN" altLang="en-US" sz="1600" dirty="0"/>
              <a:t>，其中</a:t>
            </a:r>
            <a:r>
              <a:rPr lang="en-US" altLang="zh-CN" sz="1600" dirty="0"/>
              <a:t>N</a:t>
            </a:r>
            <a:r>
              <a:rPr lang="zh-CN" altLang="en-US" sz="1600" dirty="0"/>
              <a:t>是</a:t>
            </a:r>
            <a:r>
              <a:rPr lang="en-US" altLang="zh-CN" sz="1600" dirty="0"/>
              <a:t>output</a:t>
            </a:r>
            <a:r>
              <a:rPr lang="zh-CN" altLang="en-US" sz="1600" dirty="0"/>
              <a:t>维度，</a:t>
            </a:r>
            <a:r>
              <a:rPr lang="en-US" altLang="zh-CN" sz="1600" dirty="0"/>
              <a:t>K</a:t>
            </a:r>
            <a:r>
              <a:rPr lang="zh-CN" altLang="en-US" sz="1600" dirty="0"/>
              <a:t>是</a:t>
            </a:r>
            <a:r>
              <a:rPr lang="en-US" altLang="zh-CN" sz="1600" dirty="0"/>
              <a:t>input</a:t>
            </a:r>
            <a:r>
              <a:rPr lang="zh-CN" altLang="en-US" sz="1600" dirty="0"/>
              <a:t>维度（</a:t>
            </a:r>
            <a:r>
              <a:rPr lang="en-US" altLang="zh-CN" sz="1600" dirty="0"/>
              <a:t>reduction</a:t>
            </a:r>
            <a:r>
              <a:rPr lang="zh-CN" altLang="en-US" sz="1600" dirty="0"/>
              <a:t>）</a:t>
            </a:r>
            <a:endParaRPr lang="zh-CN" altLang="zh-CN" sz="1600" dirty="0"/>
          </a:p>
          <a:p>
            <a:pPr>
              <a:spcAft>
                <a:spcPts val="600"/>
              </a:spcAft>
            </a:pPr>
            <a:endParaRPr lang="en-US" altLang="zh-CN" sz="1600" dirty="0"/>
          </a:p>
          <a:p>
            <a:pPr>
              <a:spcAft>
                <a:spcPts val="600"/>
              </a:spcAft>
            </a:pPr>
            <a:r>
              <a:rPr lang="zh-CN" altLang="en-US" sz="1600" dirty="0"/>
              <a:t>在这里给出 </a:t>
            </a:r>
            <a:r>
              <a:rPr lang="en-US" altLang="zh-CN" sz="1600" dirty="0"/>
              <a:t>5</a:t>
            </a:r>
            <a:r>
              <a:rPr lang="zh-CN" altLang="en-US" sz="1600" dirty="0"/>
              <a:t> 种典型情况的</a:t>
            </a:r>
            <a:r>
              <a:rPr lang="en-US" altLang="zh-CN" sz="1600" dirty="0"/>
              <a:t>Qs/</a:t>
            </a:r>
            <a:r>
              <a:rPr lang="en-US" altLang="zh-CN" sz="1600" dirty="0" err="1"/>
              <a:t>Qr</a:t>
            </a:r>
            <a:r>
              <a:rPr lang="zh-CN" altLang="en-US" sz="1600" dirty="0"/>
              <a:t>和</a:t>
            </a:r>
            <a:r>
              <a:rPr lang="en-US" altLang="zh-CN" sz="1600" dirty="0"/>
              <a:t>RI</a:t>
            </a:r>
            <a:r>
              <a:rPr lang="zh-CN" altLang="en-US" sz="1600" dirty="0"/>
              <a:t>（小中大三种</a:t>
            </a:r>
            <a:r>
              <a:rPr lang="zh-CN" altLang="zh-CN" sz="1600" dirty="0"/>
              <a:t>方阵、压缩投影、扩展投影</a:t>
            </a:r>
            <a:r>
              <a:rPr lang="zh-CN" altLang="en-US" sz="1600" dirty="0"/>
              <a:t>）</a:t>
            </a:r>
            <a:endParaRPr lang="en-US" altLang="zh-CN" sz="1600" dirty="0"/>
          </a:p>
          <a:p>
            <a:pPr>
              <a:spcAft>
                <a:spcPts val="600"/>
              </a:spcAft>
            </a:pPr>
            <a:r>
              <a:rPr lang="en-US" altLang="zh-CN" sz="1600" dirty="0"/>
              <a:t>[128,</a:t>
            </a:r>
            <a:r>
              <a:rPr lang="zh-CN" altLang="en-US" sz="1600" dirty="0"/>
              <a:t> </a:t>
            </a:r>
            <a:r>
              <a:rPr lang="en-US" altLang="zh-CN" sz="1600" dirty="0"/>
              <a:t>128],</a:t>
            </a:r>
            <a:r>
              <a:rPr lang="zh-CN" altLang="en-US" sz="1600" dirty="0"/>
              <a:t> </a:t>
            </a:r>
            <a:r>
              <a:rPr lang="en-US" altLang="zh-CN" sz="1600" dirty="0"/>
              <a:t>[1024,</a:t>
            </a:r>
            <a:r>
              <a:rPr lang="zh-CN" altLang="en-US" sz="1600" dirty="0"/>
              <a:t> </a:t>
            </a:r>
            <a:r>
              <a:rPr lang="en-US" altLang="zh-CN" sz="1600" dirty="0"/>
              <a:t>1024],</a:t>
            </a:r>
            <a:r>
              <a:rPr lang="zh-CN" altLang="en-US" sz="1600" dirty="0"/>
              <a:t> </a:t>
            </a:r>
            <a:r>
              <a:rPr lang="en-US" altLang="zh-CN" sz="1600" dirty="0"/>
              <a:t>[4096,</a:t>
            </a:r>
            <a:r>
              <a:rPr lang="zh-CN" altLang="en-US" sz="1600" dirty="0"/>
              <a:t> </a:t>
            </a:r>
            <a:r>
              <a:rPr lang="en-US" altLang="zh-CN" sz="1600" dirty="0"/>
              <a:t>4096],</a:t>
            </a:r>
            <a:r>
              <a:rPr lang="zh-CN" altLang="en-US" sz="1600" dirty="0"/>
              <a:t> </a:t>
            </a:r>
            <a:r>
              <a:rPr lang="en-US" altLang="zh-CN" sz="1600" dirty="0"/>
              <a:t>[1024,</a:t>
            </a:r>
            <a:r>
              <a:rPr lang="zh-CN" altLang="en-US" sz="1600" dirty="0"/>
              <a:t> </a:t>
            </a:r>
            <a:r>
              <a:rPr lang="en-US" altLang="zh-CN" sz="1600" dirty="0"/>
              <a:t>4096],</a:t>
            </a:r>
            <a:r>
              <a:rPr lang="zh-CN" altLang="en-US" sz="1600" dirty="0"/>
              <a:t> </a:t>
            </a:r>
            <a:r>
              <a:rPr lang="en-US" altLang="zh-CN" sz="1600" dirty="0"/>
              <a:t>[4096,</a:t>
            </a:r>
            <a:r>
              <a:rPr lang="zh-CN" altLang="en-US" sz="1600" dirty="0"/>
              <a:t> </a:t>
            </a:r>
            <a:r>
              <a:rPr lang="en-US" altLang="zh-CN" sz="1600" dirty="0"/>
              <a:t>1024]</a:t>
            </a:r>
          </a:p>
        </p:txBody>
      </p:sp>
    </p:spTree>
    <p:extLst>
      <p:ext uri="{BB962C8B-B14F-4D97-AF65-F5344CB8AC3E}">
        <p14:creationId xmlns:p14="http://schemas.microsoft.com/office/powerpoint/2010/main" val="3551479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1A81-FC3D-F586-270E-4F11AD78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F5CC1CA-E873-B95C-CC7A-6AF401BC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55043C6-50C9-DFC3-CE01-4834087F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E39622-8A89-507E-8A8D-0565E9D5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9112DBD-C8FF-E79C-5C1D-FCB7C91E287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46193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实际的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讨论，也就是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cs typeface="Arial" panose="020B0604020202020204" pitchFamily="34" charset="0"/>
              </a:rPr>
              <a:t>(b)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zh-CN" sz="1600" b="1" dirty="0"/>
              <a:t>静态 QKV Projection、</a:t>
            </a:r>
            <a:r>
              <a:rPr lang="zh-CN" altLang="en-US" sz="1600" b="1" dirty="0"/>
              <a:t>包含</a:t>
            </a:r>
            <a:r>
              <a:rPr lang="zh-CN" altLang="zh-CN" sz="1600" b="1" dirty="0"/>
              <a:t>更新</a:t>
            </a:r>
            <a:r>
              <a:rPr lang="zh-CN" altLang="en-US" sz="1600" b="1" dirty="0"/>
              <a:t>的</a:t>
            </a:r>
            <a:r>
              <a:rPr lang="zh-CN" altLang="zh-CN" sz="1600" b="1" dirty="0"/>
              <a:t> FFN／</a:t>
            </a:r>
            <a:r>
              <a:rPr lang="en-US" altLang="zh-CN" sz="1600" b="1" dirty="0" err="1"/>
              <a:t>MoE</a:t>
            </a:r>
            <a:r>
              <a:rPr lang="zh-CN" altLang="zh-CN" sz="1600" b="1" dirty="0"/>
              <a:t> 、Attention Prefill、Attention Decode</a:t>
            </a:r>
            <a:endParaRPr lang="en-US" altLang="zh-CN" sz="1600" b="1" dirty="0"/>
          </a:p>
          <a:p>
            <a:endParaRPr lang="en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chemeClr val="tx1"/>
                </a:solidFill>
                <a:cs typeface="Arial" panose="020B0604020202020204" pitchFamily="34" charset="0"/>
              </a:rPr>
              <a:t>在这里讨论的是实际的推理</a:t>
            </a:r>
            <a:r>
              <a:rPr lang="en-US" altLang="zh-CN" sz="1600" b="1" dirty="0">
                <a:solidFill>
                  <a:schemeClr val="tx1"/>
                </a:solidFill>
                <a:cs typeface="Arial" panose="020B0604020202020204" pitchFamily="34" charset="0"/>
              </a:rPr>
              <a:t>workload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，根据实际的开源模型，选定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6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个：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2B → 8B → 35B → 295B → 1T</a:t>
            </a:r>
            <a:r>
              <a:rPr lang="zh-CN" altLang="en" sz="1600" dirty="0">
                <a:solidFill>
                  <a:schemeClr val="tx1"/>
                </a:solidFill>
                <a:cs typeface="Arial" panose="020B0604020202020204" pitchFamily="34" charset="0"/>
              </a:rPr>
              <a:t>／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1.02T</a:t>
            </a:r>
            <a:endParaRPr lang="en-US" altLang="zh-CN" sz="1600" dirty="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两个 </a:t>
            </a:r>
            <a:r>
              <a:rPr lang="en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Dense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（端侧）</a:t>
            </a:r>
            <a:r>
              <a:rPr lang="zh-CN" altLang="en" sz="1600" dirty="0">
                <a:solidFill>
                  <a:schemeClr val="tx1"/>
                </a:solidFill>
                <a:cs typeface="Arial" panose="020B0604020202020204" pitchFamily="34" charset="0"/>
              </a:rPr>
              <a:t>、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四个 </a:t>
            </a:r>
            <a:r>
              <a:rPr lang="en" altLang="zh-CN" sz="1600" dirty="0" err="1">
                <a:solidFill>
                  <a:schemeClr val="tx1"/>
                </a:solidFill>
                <a:cs typeface="Arial" panose="020B0604020202020204" pitchFamily="34" charset="0"/>
              </a:rPr>
              <a:t>MoE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（主流），他们的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Attention</a:t>
            </a:r>
            <a:r>
              <a:rPr lang="zh-CN" altLang="en-US" sz="1600" dirty="0">
                <a:solidFill>
                  <a:schemeClr val="tx1"/>
                </a:solidFill>
                <a:cs typeface="Arial" panose="020B0604020202020204" pitchFamily="34" charset="0"/>
              </a:rPr>
              <a:t>都是类似的</a:t>
            </a:r>
            <a:r>
              <a:rPr lang="en-US" altLang="zh-CN" sz="1600" dirty="0">
                <a:solidFill>
                  <a:schemeClr val="tx1"/>
                </a:solidFill>
                <a:cs typeface="Arial" panose="020B0604020202020204" pitchFamily="34" charset="0"/>
              </a:rPr>
              <a:t>GQA</a:t>
            </a:r>
            <a:endParaRPr lang="zh-CN" altLang="zh-CN" sz="1600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ED1AEBE-9A62-418A-D89A-95435E10E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431" y="3563044"/>
            <a:ext cx="9401138" cy="32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6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6E3CF-CDBC-182E-7DB1-5EF0891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58567E6-0B5E-40B6-2DB1-DDA3214D7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918F2A-96C7-DA2B-EB20-C64F70E0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A98115-D459-385E-46FB-BCB5AADCB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A288A50-B68A-0808-7743-A1C96B66E18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21342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实际的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讨论，也就是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 dirty="0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(b)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zh-CN" sz="1600" b="1" dirty="0"/>
              <a:t>静态 QKV Projection、</a:t>
            </a:r>
            <a:r>
              <a:rPr lang="zh-CN" altLang="en-US" sz="1600" b="1" dirty="0"/>
              <a:t>包含</a:t>
            </a:r>
            <a:r>
              <a:rPr lang="zh-CN" altLang="zh-CN" sz="1600" b="1" dirty="0"/>
              <a:t>更新</a:t>
            </a:r>
            <a:r>
              <a:rPr lang="zh-CN" altLang="en-US" sz="1600" b="1" dirty="0"/>
              <a:t>的</a:t>
            </a:r>
            <a:r>
              <a:rPr lang="zh-CN" altLang="zh-CN" sz="1600" b="1" dirty="0"/>
              <a:t> FFN／</a:t>
            </a:r>
            <a:r>
              <a:rPr lang="en-US" altLang="zh-CN" sz="1600" b="1" dirty="0" err="1"/>
              <a:t>MoE</a:t>
            </a:r>
            <a:r>
              <a:rPr lang="zh-CN" altLang="zh-CN" sz="1600" b="1" dirty="0"/>
              <a:t> 、Attention Prefill、Attention Decode</a:t>
            </a:r>
            <a:endParaRPr lang="en-US" altLang="zh-CN" sz="1600" b="1" dirty="0"/>
          </a:p>
          <a:p>
            <a:endParaRPr lang="en-US" altLang="zh-CN" sz="1600" dirty="0"/>
          </a:p>
          <a:p>
            <a:r>
              <a:rPr lang="zh-CN" altLang="zh-CN" sz="1600" dirty="0"/>
              <a:t>QKV 对应静态</a:t>
            </a:r>
            <a:r>
              <a:rPr lang="zh-CN" altLang="en-US" sz="1600" dirty="0"/>
              <a:t>工作</a:t>
            </a:r>
            <a:r>
              <a:rPr lang="zh-CN" altLang="zh-CN" sz="1600" dirty="0"/>
              <a:t>点，FFN／MoE 对应有限</a:t>
            </a:r>
            <a:r>
              <a:rPr lang="zh-CN" altLang="en-US" sz="1600" dirty="0"/>
              <a:t>的</a:t>
            </a:r>
            <a:r>
              <a:rPr lang="zh-CN" altLang="zh-CN" sz="1600" dirty="0"/>
              <a:t>驻留复用，两个 Attention 行对应完整建立状态与增量更新状态</a:t>
            </a:r>
            <a:endParaRPr lang="en-US" altLang="zh-CN" sz="1600" dirty="0"/>
          </a:p>
          <a:p>
            <a:r>
              <a:rPr lang="en-US" altLang="zh-CN" sz="1600" dirty="0"/>
              <a:t>	</a:t>
            </a:r>
          </a:p>
          <a:p>
            <a:r>
              <a:rPr lang="zh-CN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zh-CN" altLang="zh-CN" sz="1600" dirty="0"/>
              <a:t>同一份 FFN／</a:t>
            </a:r>
            <a:r>
              <a:rPr lang="en-US" altLang="zh-CN" sz="1600" dirty="0" err="1"/>
              <a:t>MoE</a:t>
            </a:r>
            <a:r>
              <a:rPr lang="zh-CN" altLang="en-US" sz="1600" dirty="0"/>
              <a:t> 权重</a:t>
            </a:r>
            <a:r>
              <a:rPr lang="zh-CN" altLang="zh-CN" sz="1600" dirty="0"/>
              <a:t>在本次装载后、下一次替换前服务的输入向量总数</a:t>
            </a:r>
            <a:r>
              <a:rPr lang="zh-CN" altLang="en-US" sz="1600" dirty="0"/>
              <a:t>，影响 </a:t>
            </a:r>
            <a:r>
              <a:rPr lang="en-US" altLang="zh-CN" sz="1600" dirty="0"/>
              <a:t>FFN./</a:t>
            </a:r>
            <a:r>
              <a:rPr lang="en-US" altLang="zh-CN" sz="1600" dirty="0" err="1"/>
              <a:t>MoE</a:t>
            </a:r>
            <a:r>
              <a:rPr lang="zh-CN" altLang="en-US" sz="1600" dirty="0"/>
              <a:t> 这边的参数</a:t>
            </a:r>
            <a:endParaRPr lang="en-US" altLang="zh-CN" sz="1600" dirty="0"/>
          </a:p>
          <a:p>
            <a:r>
              <a:rPr lang="en-US" altLang="zh-CN" sz="1600" dirty="0"/>
              <a:t>L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zh-CN" altLang="zh-CN" sz="1600" dirty="0"/>
              <a:t>本次结束时可见的 KV 长度</a:t>
            </a:r>
            <a:r>
              <a:rPr lang="zh-CN" altLang="en-US" sz="1600" dirty="0"/>
              <a:t>，影响 </a:t>
            </a:r>
            <a:r>
              <a:rPr lang="en-US" altLang="zh-CN" sz="1600" dirty="0"/>
              <a:t>Attention</a:t>
            </a:r>
            <a:r>
              <a:rPr lang="zh-CN" altLang="en-US" sz="1600" dirty="0"/>
              <a:t> 这边的参数</a:t>
            </a:r>
            <a:endParaRPr lang="en-US" altLang="zh-CN" sz="1600" dirty="0"/>
          </a:p>
          <a:p>
            <a:r>
              <a:rPr lang="zh-CN" altLang="en-US" sz="1600" dirty="0"/>
              <a:t>目前考虑 </a:t>
            </a:r>
            <a:r>
              <a:rPr lang="en-US" altLang="zh-CN" sz="1600" dirty="0"/>
              <a:t>B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en-US" altLang="zh-CN" sz="1600" dirty="0"/>
              <a:t>{8,</a:t>
            </a:r>
            <a:r>
              <a:rPr lang="zh-CN" altLang="en-US" sz="1600" dirty="0"/>
              <a:t> </a:t>
            </a:r>
            <a:r>
              <a:rPr lang="en-US" altLang="zh-CN" sz="1600" dirty="0"/>
              <a:t>64,</a:t>
            </a:r>
            <a:r>
              <a:rPr lang="zh-CN" altLang="en-US" sz="1600" dirty="0"/>
              <a:t> </a:t>
            </a:r>
            <a:r>
              <a:rPr lang="en-US" altLang="zh-CN" sz="1600" dirty="0"/>
              <a:t>512}</a:t>
            </a:r>
            <a:r>
              <a:rPr lang="zh-CN" altLang="en-US" sz="1600" dirty="0"/>
              <a:t>，</a:t>
            </a:r>
            <a:r>
              <a:rPr lang="en-US" altLang="zh-CN" sz="1600" dirty="0"/>
              <a:t>L</a:t>
            </a:r>
            <a:r>
              <a:rPr lang="zh-CN" altLang="en-US" sz="1600" dirty="0"/>
              <a:t> </a:t>
            </a:r>
            <a:r>
              <a:rPr lang="en-US" altLang="zh-CN" sz="1600" dirty="0"/>
              <a:t>=</a:t>
            </a:r>
            <a:r>
              <a:rPr lang="zh-CN" altLang="en-US" sz="1600" dirty="0"/>
              <a:t> </a:t>
            </a:r>
            <a:r>
              <a:rPr lang="en-US" altLang="zh-CN" sz="1600" dirty="0"/>
              <a:t>{1K,</a:t>
            </a:r>
            <a:r>
              <a:rPr lang="zh-CN" altLang="en-US" sz="1600" dirty="0"/>
              <a:t> </a:t>
            </a:r>
            <a:r>
              <a:rPr lang="en-US" altLang="zh-CN" sz="1600" dirty="0"/>
              <a:t>16K,</a:t>
            </a:r>
            <a:r>
              <a:rPr lang="zh-CN" altLang="en-US" sz="1600" dirty="0"/>
              <a:t> </a:t>
            </a:r>
            <a:r>
              <a:rPr lang="en-US" altLang="zh-CN" sz="1600" dirty="0"/>
              <a:t>128K}</a:t>
            </a:r>
            <a:endParaRPr lang="zh-CN" altLang="zh-CN" sz="16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5C1CBB0-5F48-2B11-3A32-2F897365B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768" y="4334350"/>
            <a:ext cx="9378464" cy="233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09375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</TotalTime>
  <Words>2053</Words>
  <Application>Microsoft Macintosh PowerPoint</Application>
  <PresentationFormat>宽屏</PresentationFormat>
  <Paragraphs>258</Paragraphs>
  <Slides>30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37" baseType="lpstr">
      <vt:lpstr>等线</vt:lpstr>
      <vt:lpstr>黑体</vt:lpstr>
      <vt:lpstr>Arial</vt:lpstr>
      <vt:lpstr>Calibri</vt:lpstr>
      <vt:lpstr>Cambria Math</vt:lpstr>
      <vt:lpstr>Times New Roman</vt:lpstr>
      <vt:lpstr>Normal</vt:lpstr>
      <vt:lpstr>CIM Roofline 分析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SHY</cp:lastModifiedBy>
  <cp:revision>1</cp:revision>
  <dcterms:created xsi:type="dcterms:W3CDTF">2025-05-15T02:23:24Z</dcterms:created>
  <dcterms:modified xsi:type="dcterms:W3CDTF">2026-09-23T06:00:13Z</dcterms:modified>
</cp:coreProperties>
</file>