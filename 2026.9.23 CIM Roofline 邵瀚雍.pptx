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firstSlideNum="0" showSpecialPlsOnTitleSld="0" saveSubsetFonts="1" autoCompressPictures="0">
  <p:sldMasterIdLst>
    <p:sldMasterId id="2147483661" r:id="rId1"/>
  </p:sldMasterIdLst>
  <p:notesMasterIdLst>
    <p:notesMasterId r:id="rId29"/>
  </p:notesMasterIdLst>
  <p:sldIdLst>
    <p:sldId id="256" r:id="rId2"/>
    <p:sldId id="390" r:id="rId3"/>
    <p:sldId id="391" r:id="rId4"/>
    <p:sldId id="392" r:id="rId5"/>
    <p:sldId id="393" r:id="rId6"/>
    <p:sldId id="361" r:id="rId7"/>
    <p:sldId id="380" r:id="rId8"/>
    <p:sldId id="381" r:id="rId9"/>
    <p:sldId id="382" r:id="rId10"/>
    <p:sldId id="387" r:id="rId11"/>
    <p:sldId id="388" r:id="rId12"/>
    <p:sldId id="389" r:id="rId13"/>
    <p:sldId id="394" r:id="rId14"/>
    <p:sldId id="395" r:id="rId15"/>
    <p:sldId id="396" r:id="rId16"/>
    <p:sldId id="397" r:id="rId17"/>
    <p:sldId id="398" r:id="rId18"/>
    <p:sldId id="399" r:id="rId19"/>
    <p:sldId id="400" r:id="rId20"/>
    <p:sldId id="401" r:id="rId21"/>
    <p:sldId id="402" r:id="rId22"/>
    <p:sldId id="403" r:id="rId23"/>
    <p:sldId id="404" r:id="rId24"/>
    <p:sldId id="405" r:id="rId25"/>
    <p:sldId id="406" r:id="rId26"/>
    <p:sldId id="407" r:id="rId27"/>
    <p:sldId id="408" r:id="rId28"/>
  </p:sldIdLst>
  <p:sldSz cx="12192000" cy="6858000"/>
  <p:notesSz cx="6858000" cy="9144000"/>
  <p:defaultTextStyle>
    <a:defPPr>
      <a:defRPr lang="en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F84379C4-0CE1-4695-AE13-D51139ACAA82}" v="10" dt="2026-09-22T09:15:23.370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49" d="100"/>
          <a:sy n="149" d="100"/>
        </p:scale>
        <p:origin x="612" y="138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66" d="100"/>
          <a:sy n="66" d="100"/>
        </p:scale>
        <p:origin x="0" y="0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microsoft.com/office/2016/11/relationships/changesInfo" Target="changesInfos/changesInfo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presProps" Target="presProps.xml"/><Relationship Id="rId35" Type="http://schemas.microsoft.com/office/2015/10/relationships/revisionInfo" Target="revisionInfo.xml"/><Relationship Id="rId8" Type="http://schemas.openxmlformats.org/officeDocument/2006/relationships/slide" Target="slides/slide7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H. Shine" userId="fc27ff59f79380b6" providerId="LiveId" clId="{727D2BB6-718A-5CC8-AEE7-01241D467CEF}"/>
    <pc:docChg chg="undo custSel addSld delSld modSld">
      <pc:chgData name="H. Shine" userId="fc27ff59f79380b6" providerId="LiveId" clId="{727D2BB6-718A-5CC8-AEE7-01241D467CEF}" dt="2026-09-08T08:14:32.944" v="467" actId="1076"/>
      <pc:docMkLst>
        <pc:docMk/>
      </pc:docMkLst>
      <pc:sldChg chg="addSp delSp modSp add mod">
        <pc:chgData name="H. Shine" userId="fc27ff59f79380b6" providerId="LiveId" clId="{727D2BB6-718A-5CC8-AEE7-01241D467CEF}" dt="2026-09-08T08:13:00.896" v="264"/>
        <pc:sldMkLst>
          <pc:docMk/>
          <pc:sldMk cId="2128394541" sldId="394"/>
        </pc:sldMkLst>
        <pc:spChg chg="mod">
          <ac:chgData name="H. Shine" userId="fc27ff59f79380b6" providerId="LiveId" clId="{727D2BB6-718A-5CC8-AEE7-01241D467CEF}" dt="2026-09-08T08:12:58.211" v="261" actId="20577"/>
          <ac:spMkLst>
            <pc:docMk/>
            <pc:sldMk cId="2128394541" sldId="394"/>
            <ac:spMk id="5" creationId="{097E4037-9F5D-AA07-675D-5B93B763BA2E}"/>
          </ac:spMkLst>
        </pc:spChg>
        <pc:picChg chg="add mod">
          <ac:chgData name="H. Shine" userId="fc27ff59f79380b6" providerId="LiveId" clId="{727D2BB6-718A-5CC8-AEE7-01241D467CEF}" dt="2026-09-08T08:12:45.292" v="237" actId="14100"/>
          <ac:picMkLst>
            <pc:docMk/>
            <pc:sldMk cId="2128394541" sldId="394"/>
            <ac:picMk id="7" creationId="{486DBD95-8B49-00C9-64A3-17D7FF498146}"/>
          </ac:picMkLst>
        </pc:picChg>
        <pc:picChg chg="add mod">
          <ac:chgData name="H. Shine" userId="fc27ff59f79380b6" providerId="LiveId" clId="{727D2BB6-718A-5CC8-AEE7-01241D467CEF}" dt="2026-09-08T08:12:49.169" v="239" actId="1076"/>
          <ac:picMkLst>
            <pc:docMk/>
            <pc:sldMk cId="2128394541" sldId="394"/>
            <ac:picMk id="8" creationId="{AEEBBD8D-F9B6-94E0-26F8-699F3DFF1590}"/>
          </ac:picMkLst>
        </pc:picChg>
      </pc:sldChg>
      <pc:sldChg chg="addSp delSp modSp add mod">
        <pc:chgData name="H. Shine" userId="fc27ff59f79380b6" providerId="LiveId" clId="{727D2BB6-718A-5CC8-AEE7-01241D467CEF}" dt="2026-09-08T08:14:32.944" v="467" actId="1076"/>
        <pc:sldMkLst>
          <pc:docMk/>
          <pc:sldMk cId="1139044376" sldId="395"/>
        </pc:sldMkLst>
        <pc:spChg chg="mod">
          <ac:chgData name="H. Shine" userId="fc27ff59f79380b6" providerId="LiveId" clId="{727D2BB6-718A-5CC8-AEE7-01241D467CEF}" dt="2026-09-08T08:14:29.696" v="464" actId="20577"/>
          <ac:spMkLst>
            <pc:docMk/>
            <pc:sldMk cId="1139044376" sldId="395"/>
            <ac:spMk id="5" creationId="{4F0788C6-5D5E-F5A6-790A-33AF029F223D}"/>
          </ac:spMkLst>
        </pc:spChg>
        <pc:picChg chg="add mod">
          <ac:chgData name="H. Shine" userId="fc27ff59f79380b6" providerId="LiveId" clId="{727D2BB6-718A-5CC8-AEE7-01241D467CEF}" dt="2026-09-08T08:14:32.944" v="467" actId="1076"/>
          <ac:picMkLst>
            <pc:docMk/>
            <pc:sldMk cId="1139044376" sldId="395"/>
            <ac:picMk id="6" creationId="{AC25EBB9-AE1F-F80B-A8DE-B740F21E5CF0}"/>
          </ac:picMkLst>
        </pc:picChg>
      </pc:sldChg>
    </pc:docChg>
  </pc:docChgLst>
  <pc:docChgLst>
    <pc:chgData name="H. Shine" userId="fc27ff59f79380b6" providerId="LiveId" clId="{49B3E6E0-4B1E-4AD6-A829-DE648B7A64C9}"/>
    <pc:docChg chg="undo custSel addSld delSld modSld sldOrd">
      <pc:chgData name="H. Shine" userId="fc27ff59f79380b6" providerId="LiveId" clId="{49B3E6E0-4B1E-4AD6-A829-DE648B7A64C9}" dt="2026-09-22T09:33:00.047" v="927" actId="14100"/>
      <pc:docMkLst>
        <pc:docMk/>
      </pc:docMkLst>
      <pc:sldChg chg="modSp mod">
        <pc:chgData name="H. Shine" userId="fc27ff59f79380b6" providerId="LiveId" clId="{49B3E6E0-4B1E-4AD6-A829-DE648B7A64C9}" dt="2026-09-07T07:59:45.773" v="21" actId="20577"/>
        <pc:sldMkLst>
          <pc:docMk/>
          <pc:sldMk cId="1619921417" sldId="256"/>
        </pc:sldMkLst>
        <pc:spChg chg="mod">
          <ac:chgData name="H. Shine" userId="fc27ff59f79380b6" providerId="LiveId" clId="{49B3E6E0-4B1E-4AD6-A829-DE648B7A64C9}" dt="2026-09-07T07:59:33.778" v="5" actId="20577"/>
          <ac:spMkLst>
            <pc:docMk/>
            <pc:sldMk cId="1619921417" sldId="256"/>
            <ac:spMk id="2" creationId="{49ECD174-10B3-A233-9B16-EF4C324B0B7A}"/>
          </ac:spMkLst>
        </pc:spChg>
        <pc:spChg chg="mod">
          <ac:chgData name="H. Shine" userId="fc27ff59f79380b6" providerId="LiveId" clId="{49B3E6E0-4B1E-4AD6-A829-DE648B7A64C9}" dt="2026-09-07T07:59:39.347" v="19" actId="20577"/>
          <ac:spMkLst>
            <pc:docMk/>
            <pc:sldMk cId="1619921417" sldId="256"/>
            <ac:spMk id="3" creationId="{20795EDB-880E-5C16-E53C-473F73C876E1}"/>
          </ac:spMkLst>
        </pc:spChg>
        <pc:spChg chg="mod">
          <ac:chgData name="H. Shine" userId="fc27ff59f79380b6" providerId="LiveId" clId="{49B3E6E0-4B1E-4AD6-A829-DE648B7A64C9}" dt="2026-09-07T07:59:45.773" v="21" actId="20577"/>
          <ac:spMkLst>
            <pc:docMk/>
            <pc:sldMk cId="1619921417" sldId="256"/>
            <ac:spMk id="4" creationId="{986E41AB-95C1-5582-9161-167D561066F5}"/>
          </ac:spMkLst>
        </pc:spChg>
      </pc:sldChg>
      <pc:sldChg chg="modSp add">
        <pc:chgData name="H. Shine" userId="fc27ff59f79380b6" providerId="LiveId" clId="{49B3E6E0-4B1E-4AD6-A829-DE648B7A64C9}" dt="2026-09-07T09:19:38.778" v="831"/>
        <pc:sldMkLst>
          <pc:docMk/>
          <pc:sldMk cId="1755483739" sldId="361"/>
        </pc:sldMkLst>
        <pc:spChg chg="mod">
          <ac:chgData name="H. Shine" userId="fc27ff59f79380b6" providerId="LiveId" clId="{49B3E6E0-4B1E-4AD6-A829-DE648B7A64C9}" dt="2026-09-07T09:19:27.418" v="824"/>
          <ac:spMkLst>
            <pc:docMk/>
            <pc:sldMk cId="1755483739" sldId="361"/>
            <ac:spMk id="3" creationId="{954398CF-044B-CA30-6B04-98BAB850B29E}"/>
          </ac:spMkLst>
        </pc:spChg>
        <pc:spChg chg="mod">
          <ac:chgData name="H. Shine" userId="fc27ff59f79380b6" providerId="LiveId" clId="{49B3E6E0-4B1E-4AD6-A829-DE648B7A64C9}" dt="2026-09-07T09:19:38.778" v="831"/>
          <ac:spMkLst>
            <pc:docMk/>
            <pc:sldMk cId="1755483739" sldId="361"/>
            <ac:spMk id="4" creationId="{C01823E8-8D90-841F-60E7-1CC6591856C3}"/>
          </ac:spMkLst>
        </pc:spChg>
      </pc:sldChg>
      <pc:sldChg chg="modSp add">
        <pc:chgData name="H. Shine" userId="fc27ff59f79380b6" providerId="LiveId" clId="{49B3E6E0-4B1E-4AD6-A829-DE648B7A64C9}" dt="2026-09-07T09:19:50.910" v="834"/>
        <pc:sldMkLst>
          <pc:docMk/>
          <pc:sldMk cId="3685055001" sldId="380"/>
        </pc:sldMkLst>
        <pc:spChg chg="mod">
          <ac:chgData name="H. Shine" userId="fc27ff59f79380b6" providerId="LiveId" clId="{49B3E6E0-4B1E-4AD6-A829-DE648B7A64C9}" dt="2026-09-07T09:19:30.012" v="827"/>
          <ac:spMkLst>
            <pc:docMk/>
            <pc:sldMk cId="3685055001" sldId="380"/>
            <ac:spMk id="3" creationId="{5A95E173-2666-C14A-B386-A407E623A109}"/>
          </ac:spMkLst>
        </pc:spChg>
        <pc:spChg chg="mod">
          <ac:chgData name="H. Shine" userId="fc27ff59f79380b6" providerId="LiveId" clId="{49B3E6E0-4B1E-4AD6-A829-DE648B7A64C9}" dt="2026-09-07T09:19:50.910" v="834"/>
          <ac:spMkLst>
            <pc:docMk/>
            <pc:sldMk cId="3685055001" sldId="380"/>
            <ac:spMk id="4" creationId="{6AEDCBDE-96DE-1696-B36B-5741F4E8F3BA}"/>
          </ac:spMkLst>
        </pc:spChg>
      </pc:sldChg>
      <pc:sldChg chg="modSp add">
        <pc:chgData name="H. Shine" userId="fc27ff59f79380b6" providerId="LiveId" clId="{49B3E6E0-4B1E-4AD6-A829-DE648B7A64C9}" dt="2026-09-07T09:19:53.093" v="835"/>
        <pc:sldMkLst>
          <pc:docMk/>
          <pc:sldMk cId="432286981" sldId="381"/>
        </pc:sldMkLst>
        <pc:spChg chg="mod">
          <ac:chgData name="H. Shine" userId="fc27ff59f79380b6" providerId="LiveId" clId="{49B3E6E0-4B1E-4AD6-A829-DE648B7A64C9}" dt="2026-09-07T09:19:31.034" v="828"/>
          <ac:spMkLst>
            <pc:docMk/>
            <pc:sldMk cId="432286981" sldId="381"/>
            <ac:spMk id="3" creationId="{F9313387-7B5F-DF4A-B532-C1A9CF983443}"/>
          </ac:spMkLst>
        </pc:spChg>
        <pc:spChg chg="mod">
          <ac:chgData name="H. Shine" userId="fc27ff59f79380b6" providerId="LiveId" clId="{49B3E6E0-4B1E-4AD6-A829-DE648B7A64C9}" dt="2026-09-07T09:19:53.093" v="835"/>
          <ac:spMkLst>
            <pc:docMk/>
            <pc:sldMk cId="432286981" sldId="381"/>
            <ac:spMk id="4" creationId="{CB1C1BDE-821C-7D29-A76C-08BDB312FFF1}"/>
          </ac:spMkLst>
        </pc:spChg>
      </pc:sldChg>
      <pc:sldChg chg="modSp add">
        <pc:chgData name="H. Shine" userId="fc27ff59f79380b6" providerId="LiveId" clId="{49B3E6E0-4B1E-4AD6-A829-DE648B7A64C9}" dt="2026-09-07T09:19:54.791" v="836"/>
        <pc:sldMkLst>
          <pc:docMk/>
          <pc:sldMk cId="3801663006" sldId="382"/>
        </pc:sldMkLst>
        <pc:spChg chg="mod">
          <ac:chgData name="H. Shine" userId="fc27ff59f79380b6" providerId="LiveId" clId="{49B3E6E0-4B1E-4AD6-A829-DE648B7A64C9}" dt="2026-09-07T09:19:32.393" v="829"/>
          <ac:spMkLst>
            <pc:docMk/>
            <pc:sldMk cId="3801663006" sldId="382"/>
            <ac:spMk id="3" creationId="{93EB0264-D161-6203-90AA-697CE41576E6}"/>
          </ac:spMkLst>
        </pc:spChg>
        <pc:spChg chg="mod">
          <ac:chgData name="H. Shine" userId="fc27ff59f79380b6" providerId="LiveId" clId="{49B3E6E0-4B1E-4AD6-A829-DE648B7A64C9}" dt="2026-09-07T09:19:54.791" v="836"/>
          <ac:spMkLst>
            <pc:docMk/>
            <pc:sldMk cId="3801663006" sldId="382"/>
            <ac:spMk id="4" creationId="{A428565C-C41C-A3C2-3442-C2723653FD52}"/>
          </ac:spMkLst>
        </pc:spChg>
      </pc:sldChg>
      <pc:sldChg chg="modSp add ord">
        <pc:chgData name="H. Shine" userId="fc27ff59f79380b6" providerId="LiveId" clId="{49B3E6E0-4B1E-4AD6-A829-DE648B7A64C9}" dt="2026-09-07T09:18:14.128" v="816"/>
        <pc:sldMkLst>
          <pc:docMk/>
          <pc:sldMk cId="1808672707" sldId="387"/>
        </pc:sldMkLst>
        <pc:spChg chg="mod">
          <ac:chgData name="H. Shine" userId="fc27ff59f79380b6" providerId="LiveId" clId="{49B3E6E0-4B1E-4AD6-A829-DE648B7A64C9}" dt="2026-09-07T09:17:41.886" v="784"/>
          <ac:spMkLst>
            <pc:docMk/>
            <pc:sldMk cId="1808672707" sldId="387"/>
            <ac:spMk id="3" creationId="{3ACDABE2-A0F4-308D-5B4E-18093B0FFF1E}"/>
          </ac:spMkLst>
        </pc:spChg>
        <pc:spChg chg="mod">
          <ac:chgData name="H. Shine" userId="fc27ff59f79380b6" providerId="LiveId" clId="{49B3E6E0-4B1E-4AD6-A829-DE648B7A64C9}" dt="2026-09-07T09:18:08.863" v="814"/>
          <ac:spMkLst>
            <pc:docMk/>
            <pc:sldMk cId="1808672707" sldId="387"/>
            <ac:spMk id="4" creationId="{D159C537-381F-D19A-EFF9-B24CADE8824C}"/>
          </ac:spMkLst>
        </pc:spChg>
      </pc:sldChg>
      <pc:sldChg chg="modSp add">
        <pc:chgData name="H. Shine" userId="fc27ff59f79380b6" providerId="LiveId" clId="{49B3E6E0-4B1E-4AD6-A829-DE648B7A64C9}" dt="2026-09-07T09:18:18.752" v="818"/>
        <pc:sldMkLst>
          <pc:docMk/>
          <pc:sldMk cId="1192308576" sldId="388"/>
        </pc:sldMkLst>
        <pc:spChg chg="mod">
          <ac:chgData name="H. Shine" userId="fc27ff59f79380b6" providerId="LiveId" clId="{49B3E6E0-4B1E-4AD6-A829-DE648B7A64C9}" dt="2026-09-07T09:17:42.762" v="785"/>
          <ac:spMkLst>
            <pc:docMk/>
            <pc:sldMk cId="1192308576" sldId="388"/>
            <ac:spMk id="3" creationId="{3DFFA0E4-41EE-CA11-2D67-46B161D68422}"/>
          </ac:spMkLst>
        </pc:spChg>
        <pc:spChg chg="mod">
          <ac:chgData name="H. Shine" userId="fc27ff59f79380b6" providerId="LiveId" clId="{49B3E6E0-4B1E-4AD6-A829-DE648B7A64C9}" dt="2026-09-07T09:18:18.752" v="818"/>
          <ac:spMkLst>
            <pc:docMk/>
            <pc:sldMk cId="1192308576" sldId="388"/>
            <ac:spMk id="4" creationId="{F7836FBF-D1AE-3D57-5A2F-56BC4E40645B}"/>
          </ac:spMkLst>
        </pc:spChg>
      </pc:sldChg>
      <pc:sldChg chg="modSp add">
        <pc:chgData name="H. Shine" userId="fc27ff59f79380b6" providerId="LiveId" clId="{49B3E6E0-4B1E-4AD6-A829-DE648B7A64C9}" dt="2026-09-07T09:18:21.739" v="819"/>
        <pc:sldMkLst>
          <pc:docMk/>
          <pc:sldMk cId="4100147550" sldId="389"/>
        </pc:sldMkLst>
        <pc:spChg chg="mod">
          <ac:chgData name="H. Shine" userId="fc27ff59f79380b6" providerId="LiveId" clId="{49B3E6E0-4B1E-4AD6-A829-DE648B7A64C9}" dt="2026-09-07T09:17:44.176" v="786"/>
          <ac:spMkLst>
            <pc:docMk/>
            <pc:sldMk cId="4100147550" sldId="389"/>
            <ac:spMk id="3" creationId="{F9946AE8-8DDC-D8D0-26A3-00AFD100679F}"/>
          </ac:spMkLst>
        </pc:spChg>
        <pc:spChg chg="mod">
          <ac:chgData name="H. Shine" userId="fc27ff59f79380b6" providerId="LiveId" clId="{49B3E6E0-4B1E-4AD6-A829-DE648B7A64C9}" dt="2026-09-07T09:18:21.739" v="819"/>
          <ac:spMkLst>
            <pc:docMk/>
            <pc:sldMk cId="4100147550" sldId="389"/>
            <ac:spMk id="4" creationId="{AA23BEE2-8214-CDEA-B079-891BE78E96AD}"/>
          </ac:spMkLst>
        </pc:spChg>
      </pc:sldChg>
      <pc:sldChg chg="delSp modSp add mod">
        <pc:chgData name="H. Shine" userId="fc27ff59f79380b6" providerId="LiveId" clId="{49B3E6E0-4B1E-4AD6-A829-DE648B7A64C9}" dt="2026-09-07T08:52:01.998" v="311" actId="113"/>
        <pc:sldMkLst>
          <pc:docMk/>
          <pc:sldMk cId="1694393957" sldId="390"/>
        </pc:sldMkLst>
        <pc:spChg chg="mod">
          <ac:chgData name="H. Shine" userId="fc27ff59f79380b6" providerId="LiveId" clId="{49B3E6E0-4B1E-4AD6-A829-DE648B7A64C9}" dt="2026-09-07T08:37:33.627" v="29"/>
          <ac:spMkLst>
            <pc:docMk/>
            <pc:sldMk cId="1694393957" sldId="390"/>
            <ac:spMk id="3" creationId="{EB43C732-6222-0D33-66C4-0F06A2A931A9}"/>
          </ac:spMkLst>
        </pc:spChg>
        <pc:spChg chg="mod">
          <ac:chgData name="H. Shine" userId="fc27ff59f79380b6" providerId="LiveId" clId="{49B3E6E0-4B1E-4AD6-A829-DE648B7A64C9}" dt="2026-09-07T08:37:36.576" v="39"/>
          <ac:spMkLst>
            <pc:docMk/>
            <pc:sldMk cId="1694393957" sldId="390"/>
            <ac:spMk id="4" creationId="{4D331936-B8FC-A114-96B6-115568608E67}"/>
          </ac:spMkLst>
        </pc:spChg>
        <pc:spChg chg="mod">
          <ac:chgData name="H. Shine" userId="fc27ff59f79380b6" providerId="LiveId" clId="{49B3E6E0-4B1E-4AD6-A829-DE648B7A64C9}" dt="2026-09-07T08:52:01.998" v="311" actId="113"/>
          <ac:spMkLst>
            <pc:docMk/>
            <pc:sldMk cId="1694393957" sldId="390"/>
            <ac:spMk id="5" creationId="{F4C4292A-00AF-89A9-47AE-A42F32DB06C7}"/>
          </ac:spMkLst>
        </pc:spChg>
      </pc:sldChg>
      <pc:sldChg chg="addSp modSp add mod">
        <pc:chgData name="H. Shine" userId="fc27ff59f79380b6" providerId="LiveId" clId="{49B3E6E0-4B1E-4AD6-A829-DE648B7A64C9}" dt="2026-09-07T09:21:46.312" v="862"/>
        <pc:sldMkLst>
          <pc:docMk/>
          <pc:sldMk cId="3696902999" sldId="391"/>
        </pc:sldMkLst>
        <pc:spChg chg="mod">
          <ac:chgData name="H. Shine" userId="fc27ff59f79380b6" providerId="LiveId" clId="{49B3E6E0-4B1E-4AD6-A829-DE648B7A64C9}" dt="2026-09-07T09:21:46.312" v="862"/>
          <ac:spMkLst>
            <pc:docMk/>
            <pc:sldMk cId="3696902999" sldId="391"/>
            <ac:spMk id="4" creationId="{B6C0E3AC-03A4-7CF3-1112-EB7DFA38E5F7}"/>
          </ac:spMkLst>
        </pc:spChg>
        <pc:spChg chg="mod">
          <ac:chgData name="H. Shine" userId="fc27ff59f79380b6" providerId="LiveId" clId="{49B3E6E0-4B1E-4AD6-A829-DE648B7A64C9}" dt="2026-09-07T08:52:43.846" v="346" actId="20577"/>
          <ac:spMkLst>
            <pc:docMk/>
            <pc:sldMk cId="3696902999" sldId="391"/>
            <ac:spMk id="5" creationId="{2D44965C-E949-7CE1-DCFE-1185A0489000}"/>
          </ac:spMkLst>
        </pc:spChg>
        <pc:graphicFrameChg chg="add mod modGraphic">
          <ac:chgData name="H. Shine" userId="fc27ff59f79380b6" providerId="LiveId" clId="{49B3E6E0-4B1E-4AD6-A829-DE648B7A64C9}" dt="2026-09-07T08:58:43.395" v="413" actId="113"/>
          <ac:graphicFrameMkLst>
            <pc:docMk/>
            <pc:sldMk cId="3696902999" sldId="391"/>
            <ac:graphicFrameMk id="7" creationId="{557D2015-5D19-5765-418C-7B4BE2849380}"/>
          </ac:graphicFrameMkLst>
        </pc:graphicFrameChg>
      </pc:sldChg>
      <pc:sldChg chg="addSp delSp modSp add mod ord">
        <pc:chgData name="H. Shine" userId="fc27ff59f79380b6" providerId="LiveId" clId="{49B3E6E0-4B1E-4AD6-A829-DE648B7A64C9}" dt="2026-09-07T09:21:52.622" v="866"/>
        <pc:sldMkLst>
          <pc:docMk/>
          <pc:sldMk cId="3710890351" sldId="392"/>
        </pc:sldMkLst>
        <pc:spChg chg="mod">
          <ac:chgData name="H. Shine" userId="fc27ff59f79380b6" providerId="LiveId" clId="{49B3E6E0-4B1E-4AD6-A829-DE648B7A64C9}" dt="2026-09-07T09:20:09.668" v="852"/>
          <ac:spMkLst>
            <pc:docMk/>
            <pc:sldMk cId="3710890351" sldId="392"/>
            <ac:spMk id="4" creationId="{D22BD0C9-46BE-582A-F511-F0175EADF3F9}"/>
          </ac:spMkLst>
        </pc:spChg>
        <pc:spChg chg="mod">
          <ac:chgData name="H. Shine" userId="fc27ff59f79380b6" providerId="LiveId" clId="{49B3E6E0-4B1E-4AD6-A829-DE648B7A64C9}" dt="2026-09-07T09:15:12.615" v="767"/>
          <ac:spMkLst>
            <pc:docMk/>
            <pc:sldMk cId="3710890351" sldId="392"/>
            <ac:spMk id="5" creationId="{0DBBD2F2-350B-EDEC-80D2-58D2960636AC}"/>
          </ac:spMkLst>
        </pc:spChg>
        <pc:graphicFrameChg chg="add mod modGraphic">
          <ac:chgData name="H. Shine" userId="fc27ff59f79380b6" providerId="LiveId" clId="{49B3E6E0-4B1E-4AD6-A829-DE648B7A64C9}" dt="2026-09-07T09:14:56.850" v="752" actId="1076"/>
          <ac:graphicFrameMkLst>
            <pc:docMk/>
            <pc:sldMk cId="3710890351" sldId="392"/>
            <ac:graphicFrameMk id="6" creationId="{B9F2A716-5000-DB6B-03ED-4D00880F9208}"/>
          </ac:graphicFrameMkLst>
        </pc:graphicFrameChg>
      </pc:sldChg>
      <pc:sldChg chg="addSp delSp modSp add mod ord">
        <pc:chgData name="H. Shine" userId="fc27ff59f79380b6" providerId="LiveId" clId="{49B3E6E0-4B1E-4AD6-A829-DE648B7A64C9}" dt="2026-09-07T09:19:20.901" v="822"/>
        <pc:sldMkLst>
          <pc:docMk/>
          <pc:sldMk cId="2446773611" sldId="393"/>
        </pc:sldMkLst>
        <pc:spChg chg="mod">
          <ac:chgData name="H. Shine" userId="fc27ff59f79380b6" providerId="LiveId" clId="{49B3E6E0-4B1E-4AD6-A829-DE648B7A64C9}" dt="2026-09-07T09:17:55.092" v="794" actId="20577"/>
          <ac:spMkLst>
            <pc:docMk/>
            <pc:sldMk cId="2446773611" sldId="393"/>
            <ac:spMk id="4" creationId="{934603AE-4E3E-69B1-063B-D0BE15B1EFCC}"/>
          </ac:spMkLst>
        </pc:spChg>
        <pc:spChg chg="mod">
          <ac:chgData name="H. Shine" userId="fc27ff59f79380b6" providerId="LiveId" clId="{49B3E6E0-4B1E-4AD6-A829-DE648B7A64C9}" dt="2026-09-07T09:09:58.518" v="660" actId="20577"/>
          <ac:spMkLst>
            <pc:docMk/>
            <pc:sldMk cId="2446773611" sldId="393"/>
            <ac:spMk id="5" creationId="{CB0EB615-3EBC-5A97-4FF6-6804449B6E42}"/>
          </ac:spMkLst>
        </pc:spChg>
        <pc:picChg chg="add mod">
          <ac:chgData name="H. Shine" userId="fc27ff59f79380b6" providerId="LiveId" clId="{49B3E6E0-4B1E-4AD6-A829-DE648B7A64C9}" dt="2026-09-07T09:16:50.705" v="772" actId="1076"/>
          <ac:picMkLst>
            <pc:docMk/>
            <pc:sldMk cId="2446773611" sldId="393"/>
            <ac:picMk id="8" creationId="{08968525-8DE5-FC5D-B471-A3F2030B11FF}"/>
          </ac:picMkLst>
        </pc:picChg>
        <pc:picChg chg="add mod">
          <ac:chgData name="H. Shine" userId="fc27ff59f79380b6" providerId="LiveId" clId="{49B3E6E0-4B1E-4AD6-A829-DE648B7A64C9}" dt="2026-09-07T09:16:53.493" v="774" actId="1076"/>
          <ac:picMkLst>
            <pc:docMk/>
            <pc:sldMk cId="2446773611" sldId="393"/>
            <ac:picMk id="10" creationId="{A4A53050-3EF9-4ABB-B957-2370911AA5B0}"/>
          </ac:picMkLst>
        </pc:picChg>
        <pc:picChg chg="add mod">
          <ac:chgData name="H. Shine" userId="fc27ff59f79380b6" providerId="LiveId" clId="{49B3E6E0-4B1E-4AD6-A829-DE648B7A64C9}" dt="2026-09-07T09:16:55.253" v="775" actId="1076"/>
          <ac:picMkLst>
            <pc:docMk/>
            <pc:sldMk cId="2446773611" sldId="393"/>
            <ac:picMk id="12" creationId="{2DC937E6-EDAD-AD7C-D20D-510F3B123307}"/>
          </ac:picMkLst>
        </pc:picChg>
        <pc:picChg chg="add mod">
          <ac:chgData name="H. Shine" userId="fc27ff59f79380b6" providerId="LiveId" clId="{49B3E6E0-4B1E-4AD6-A829-DE648B7A64C9}" dt="2026-09-07T09:17:02.635" v="780" actId="14100"/>
          <ac:picMkLst>
            <pc:docMk/>
            <pc:sldMk cId="2446773611" sldId="393"/>
            <ac:picMk id="14" creationId="{E66F20D6-9BC6-8936-6C80-ACE8CFAE666C}"/>
          </ac:picMkLst>
        </pc:picChg>
      </pc:sldChg>
      <pc:sldChg chg="modSp">
        <pc:chgData name="H. Shine" userId="fc27ff59f79380b6" providerId="LiveId" clId="{49B3E6E0-4B1E-4AD6-A829-DE648B7A64C9}" dt="2026-09-22T09:11:08.878" v="867"/>
        <pc:sldMkLst>
          <pc:docMk/>
          <pc:sldMk cId="1139044376" sldId="395"/>
        </pc:sldMkLst>
        <pc:spChg chg="mod">
          <ac:chgData name="H. Shine" userId="fc27ff59f79380b6" providerId="LiveId" clId="{49B3E6E0-4B1E-4AD6-A829-DE648B7A64C9}" dt="2026-09-22T09:11:08.878" v="867"/>
          <ac:spMkLst>
            <pc:docMk/>
            <pc:sldMk cId="1139044376" sldId="395"/>
            <ac:spMk id="4" creationId="{054A4FCD-7F5C-3DDB-B429-0D98B3C1E758}"/>
          </ac:spMkLst>
        </pc:spChg>
      </pc:sldChg>
      <pc:sldChg chg="addSp modSp mod">
        <pc:chgData name="H. Shine" userId="fc27ff59f79380b6" providerId="LiveId" clId="{49B3E6E0-4B1E-4AD6-A829-DE648B7A64C9}" dt="2026-09-22T09:33:00.047" v="927" actId="14100"/>
        <pc:sldMkLst>
          <pc:docMk/>
          <pc:sldMk cId="1652007512" sldId="406"/>
        </pc:sldMkLst>
        <pc:picChg chg="add mod">
          <ac:chgData name="H. Shine" userId="fc27ff59f79380b6" providerId="LiveId" clId="{49B3E6E0-4B1E-4AD6-A829-DE648B7A64C9}" dt="2026-09-22T09:33:00.047" v="927" actId="14100"/>
          <ac:picMkLst>
            <pc:docMk/>
            <pc:sldMk cId="1652007512" sldId="406"/>
            <ac:picMk id="7" creationId="{E9C79E18-20FD-A393-9AD6-2E8EE63F6A51}"/>
          </ac:picMkLst>
        </pc:picChg>
      </pc:sldChg>
      <pc:sldChg chg="delSp modSp add mod">
        <pc:chgData name="H. Shine" userId="fc27ff59f79380b6" providerId="LiveId" clId="{49B3E6E0-4B1E-4AD6-A829-DE648B7A64C9}" dt="2026-09-22T09:15:46.615" v="920" actId="1076"/>
        <pc:sldMkLst>
          <pc:docMk/>
          <pc:sldMk cId="4029090939" sldId="408"/>
        </pc:sldMkLst>
        <pc:spChg chg="mod">
          <ac:chgData name="H. Shine" userId="fc27ff59f79380b6" providerId="LiveId" clId="{49B3E6E0-4B1E-4AD6-A829-DE648B7A64C9}" dt="2026-09-22T09:15:23.370" v="910"/>
          <ac:spMkLst>
            <pc:docMk/>
            <pc:sldMk cId="4029090939" sldId="408"/>
            <ac:spMk id="4" creationId="{E4EE2750-6657-8F49-4EFA-1156BE541964}"/>
          </ac:spMkLst>
        </pc:spChg>
        <pc:spChg chg="mod">
          <ac:chgData name="H. Shine" userId="fc27ff59f79380b6" providerId="LiveId" clId="{49B3E6E0-4B1E-4AD6-A829-DE648B7A64C9}" dt="2026-09-22T09:15:32.113" v="914" actId="20577"/>
          <ac:spMkLst>
            <pc:docMk/>
            <pc:sldMk cId="4029090939" sldId="408"/>
            <ac:spMk id="5" creationId="{9BC72FD4-F934-7212-E7AB-B36B2B9AEAF1}"/>
          </ac:spMkLst>
        </pc:spChg>
        <pc:picChg chg="mod">
          <ac:chgData name="H. Shine" userId="fc27ff59f79380b6" providerId="LiveId" clId="{49B3E6E0-4B1E-4AD6-A829-DE648B7A64C9}" dt="2026-09-22T09:15:44.330" v="918" actId="1076"/>
          <ac:picMkLst>
            <pc:docMk/>
            <pc:sldMk cId="4029090939" sldId="408"/>
            <ac:picMk id="6" creationId="{D3CFB818-D29C-FF79-7048-4D29E2839F1D}"/>
          </ac:picMkLst>
        </pc:picChg>
        <pc:picChg chg="mod">
          <ac:chgData name="H. Shine" userId="fc27ff59f79380b6" providerId="LiveId" clId="{49B3E6E0-4B1E-4AD6-A829-DE648B7A64C9}" dt="2026-09-22T09:15:41.945" v="917" actId="1076"/>
          <ac:picMkLst>
            <pc:docMk/>
            <pc:sldMk cId="4029090939" sldId="408"/>
            <ac:picMk id="10" creationId="{CCB26D37-53AC-B580-00F9-D53D93CF60D7}"/>
          </ac:picMkLst>
        </pc:picChg>
        <pc:picChg chg="del">
          <ac:chgData name="H. Shine" userId="fc27ff59f79380b6" providerId="LiveId" clId="{49B3E6E0-4B1E-4AD6-A829-DE648B7A64C9}" dt="2026-09-22T09:15:25.224" v="911" actId="478"/>
          <ac:picMkLst>
            <pc:docMk/>
            <pc:sldMk cId="4029090939" sldId="408"/>
            <ac:picMk id="12" creationId="{71FDD60E-7251-1390-687C-BABB44417FA1}"/>
          </ac:picMkLst>
        </pc:picChg>
        <pc:picChg chg="mod">
          <ac:chgData name="H. Shine" userId="fc27ff59f79380b6" providerId="LiveId" clId="{49B3E6E0-4B1E-4AD6-A829-DE648B7A64C9}" dt="2026-09-22T09:15:46.615" v="920" actId="1076"/>
          <ac:picMkLst>
            <pc:docMk/>
            <pc:sldMk cId="4029090939" sldId="408"/>
            <ac:picMk id="13" creationId="{9ABEB855-FB48-A316-33C1-99411337F2DB}"/>
          </ac:picMkLst>
        </pc:pic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111C8C9-373A-574A-9755-80D04E77005E}" type="datetimeFigureOut">
              <a:rPr kumimoji="1" lang="zh-CN" altLang="en-US" smtClean="0"/>
              <a:t>2026/9/22</a:t>
            </a:fld>
            <a:endParaRPr kumimoji="1"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1762D5B-0E32-3D49-B207-A22F47C1AAFC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81740646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1762D5B-0E32-3D49-B207-A22F47C1AAFC}" type="slidenum">
              <a:rPr kumimoji="1" lang="zh-CN" altLang="en-US" smtClean="0"/>
              <a:t>13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62222494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标题 1">
            <a:extLst>
              <a:ext uri="{FF2B5EF4-FFF2-40B4-BE49-F238E27FC236}">
                <a16:creationId xmlns:a16="http://schemas.microsoft.com/office/drawing/2014/main" id="{3924D012-9870-8CCD-327D-D7161948087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96000" y="1919814"/>
            <a:ext cx="10800000" cy="720000"/>
          </a:xfrm>
        </p:spPr>
        <p:txBody>
          <a:bodyPr anchor="ctr"/>
          <a:lstStyle>
            <a:lvl1pPr algn="ctr">
              <a:lnSpc>
                <a:spcPct val="100000"/>
              </a:lnSpc>
              <a:defRPr sz="4400">
                <a:latin typeface="+mn-lt"/>
                <a:ea typeface="+mn-ea"/>
              </a:defRPr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11" name="副标题 2">
            <a:extLst>
              <a:ext uri="{FF2B5EF4-FFF2-40B4-BE49-F238E27FC236}">
                <a16:creationId xmlns:a16="http://schemas.microsoft.com/office/drawing/2014/main" id="{129AA503-B0A9-9931-7E36-E2ECA53A1B8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776000" y="2999814"/>
            <a:ext cx="8640000" cy="360000"/>
          </a:xfrm>
        </p:spPr>
        <p:txBody>
          <a:bodyPr lIns="0" tIns="0" rIns="0" bIns="0" anchor="ctr">
            <a:noAutofit/>
          </a:bodyPr>
          <a:lstStyle>
            <a:lvl1pPr marL="0" indent="0" algn="r">
              <a:lnSpc>
                <a:spcPct val="100000"/>
              </a:lnSpc>
              <a:spcBef>
                <a:spcPts val="100"/>
              </a:spcBef>
              <a:spcAft>
                <a:spcPts val="100"/>
              </a:spcAft>
              <a:buNone/>
              <a:defRPr sz="2800">
                <a:latin typeface="Calibri" panose="020F0502020204030204" pitchFamily="34" charset="0"/>
                <a:ea typeface="楷体" panose="02010609060101010101" pitchFamily="49" charset="-122"/>
                <a:cs typeface="Calibri" panose="020F05020202040302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12" name="Rectangle 4">
            <a:extLst>
              <a:ext uri="{FF2B5EF4-FFF2-40B4-BE49-F238E27FC236}">
                <a16:creationId xmlns:a16="http://schemas.microsoft.com/office/drawing/2014/main" id="{BC5547B0-9B5F-C147-C120-6BA50F5B56F8}"/>
              </a:ext>
            </a:extLst>
          </p:cNvPr>
          <p:cNvSpPr/>
          <p:nvPr/>
        </p:nvSpPr>
        <p:spPr>
          <a:xfrm>
            <a:off x="1596000" y="2639814"/>
            <a:ext cx="9000000" cy="108000"/>
          </a:xfrm>
          <a:prstGeom prst="rect">
            <a:avLst/>
          </a:prstGeom>
          <a:solidFill>
            <a:srgbClr val="B3010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N"/>
          </a:p>
        </p:txBody>
      </p:sp>
      <p:sp>
        <p:nvSpPr>
          <p:cNvPr id="13" name="内容占位符 2">
            <a:extLst>
              <a:ext uri="{FF2B5EF4-FFF2-40B4-BE49-F238E27FC236}">
                <a16:creationId xmlns:a16="http://schemas.microsoft.com/office/drawing/2014/main" id="{2644168D-C717-FB2E-66E3-EFB6C811121C}"/>
              </a:ext>
            </a:extLst>
          </p:cNvPr>
          <p:cNvSpPr>
            <a:spLocks noGrp="1"/>
          </p:cNvSpPr>
          <p:nvPr>
            <p:ph idx="10"/>
          </p:nvPr>
        </p:nvSpPr>
        <p:spPr>
          <a:xfrm>
            <a:off x="6096000" y="4358352"/>
            <a:ext cx="4320000" cy="369332"/>
          </a:xfrm>
          <a:noFill/>
        </p:spPr>
        <p:txBody>
          <a:bodyPr vert="horz" wrap="square" lIns="0" tIns="0" rIns="0" bIns="0" rtlCol="0">
            <a:spAutoFit/>
          </a:bodyPr>
          <a:lstStyle>
            <a:lvl1pPr marL="0" indent="0" algn="r">
              <a:lnSpc>
                <a:spcPct val="100000"/>
              </a:lnSpc>
              <a:spcBef>
                <a:spcPts val="100"/>
              </a:spcBef>
              <a:spcAft>
                <a:spcPts val="100"/>
              </a:spcAft>
              <a:buNone/>
              <a:defRPr lang="zh-CN" altLang="en-US" sz="2400" b="0" smtClean="0">
                <a:solidFill>
                  <a:prstClr val="black"/>
                </a:solidFill>
                <a:latin typeface="Calibri" panose="020F0502020204030204" pitchFamily="34" charset="0"/>
                <a:ea typeface="楷体" panose="02010609060101010101" pitchFamily="49" charset="-122"/>
                <a:cs typeface="Calibri" panose="020F0502020204030204" pitchFamily="34" charset="0"/>
              </a:defRPr>
            </a:lvl1pPr>
            <a:lvl2pPr>
              <a:defRPr lang="zh-CN" altLang="en-US" sz="1800" smtClean="0"/>
            </a:lvl2pPr>
            <a:lvl3pPr>
              <a:defRPr lang="zh-CN" altLang="en-US" sz="1800" smtClean="0"/>
            </a:lvl3pPr>
            <a:lvl4pPr>
              <a:defRPr lang="zh-CN" altLang="en-US" smtClean="0"/>
            </a:lvl4pPr>
            <a:lvl5pPr>
              <a:defRPr lang="zh-CN" altLang="en-US"/>
            </a:lvl5pPr>
          </a:lstStyle>
          <a:p>
            <a:pPr marL="228600" marR="0" lvl="0" indent="-228600" defTabSz="453600" fontAlgn="auto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tabLst/>
            </a:pPr>
            <a:r>
              <a:rPr lang="zh-CN" altLang="en-US"/>
              <a:t>单击此处编辑母版文本样式</a:t>
            </a:r>
          </a:p>
        </p:txBody>
      </p:sp>
    </p:spTree>
    <p:extLst>
      <p:ext uri="{BB962C8B-B14F-4D97-AF65-F5344CB8AC3E}">
        <p14:creationId xmlns:p14="http://schemas.microsoft.com/office/powerpoint/2010/main" val="182269684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4">
            <a:extLst>
              <a:ext uri="{FF2B5EF4-FFF2-40B4-BE49-F238E27FC236}">
                <a16:creationId xmlns:a16="http://schemas.microsoft.com/office/drawing/2014/main" id="{D3C09576-93C5-73E0-8669-5F4672A66030}"/>
              </a:ext>
            </a:extLst>
          </p:cNvPr>
          <p:cNvSpPr/>
          <p:nvPr/>
        </p:nvSpPr>
        <p:spPr>
          <a:xfrm>
            <a:off x="388880" y="874599"/>
            <a:ext cx="10800000" cy="90000"/>
          </a:xfrm>
          <a:prstGeom prst="rect">
            <a:avLst/>
          </a:prstGeom>
          <a:gradFill flip="none" rotWithShape="1">
            <a:gsLst>
              <a:gs pos="100000">
                <a:schemeClr val="bg1"/>
              </a:gs>
              <a:gs pos="10000">
                <a:srgbClr val="C00000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CN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楷体"/>
              <a:cs typeface="+mn-cs"/>
            </a:endParaRPr>
          </a:p>
        </p:txBody>
      </p:sp>
      <p:sp>
        <p:nvSpPr>
          <p:cNvPr id="14" name="Slide Number Placeholder 5">
            <a:extLst>
              <a:ext uri="{FF2B5EF4-FFF2-40B4-BE49-F238E27FC236}">
                <a16:creationId xmlns:a16="http://schemas.microsoft.com/office/drawing/2014/main" id="{EC101C61-3147-A619-EB69-D997B22019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0" y="5125"/>
            <a:ext cx="360000" cy="360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C00000"/>
                </a:solidFill>
              </a:defRPr>
            </a:lvl1pPr>
          </a:lstStyle>
          <a:p>
            <a:fld id="{0EEC669C-3A94-5645-80F3-ED04B501DFEC}" type="slidenum">
              <a:rPr lang="en-US" altLang="zh-CN" smtClean="0"/>
              <a:pPr/>
              <a:t>‹#›</a:t>
            </a:fld>
            <a:endParaRPr lang="zh-CN" altLang="en-US"/>
          </a:p>
        </p:txBody>
      </p:sp>
      <p:sp>
        <p:nvSpPr>
          <p:cNvPr id="2" name="标题 1">
            <a:extLst>
              <a:ext uri="{FF2B5EF4-FFF2-40B4-BE49-F238E27FC236}">
                <a16:creationId xmlns:a16="http://schemas.microsoft.com/office/drawing/2014/main" id="{AB99EF7B-0F9F-9E03-FEEF-5C8F46E4EC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8880" y="294643"/>
            <a:ext cx="10800000" cy="576000"/>
          </a:xfrm>
        </p:spPr>
        <p:txBody>
          <a:bodyPr lIns="0" tIns="0" rIns="0" bIns="0">
            <a:noAutofit/>
          </a:bodyPr>
          <a:lstStyle>
            <a:lvl1pPr>
              <a:lnSpc>
                <a:spcPct val="100000"/>
              </a:lnSpc>
              <a:defRPr sz="3600" b="1" baseline="0">
                <a:latin typeface="Calibri" panose="020F0502020204030204" pitchFamily="34" charset="0"/>
                <a:ea typeface="楷体" panose="02010609060101010101" pitchFamily="49" charset="-122"/>
              </a:defRPr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4" name="内容占位符 2">
            <a:extLst>
              <a:ext uri="{FF2B5EF4-FFF2-40B4-BE49-F238E27FC236}">
                <a16:creationId xmlns:a16="http://schemas.microsoft.com/office/drawing/2014/main" id="{F0248BAD-5CEF-29F5-03F5-829A860B9C2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33802" y="1230122"/>
            <a:ext cx="10800000" cy="369332"/>
          </a:xfrm>
          <a:noFill/>
        </p:spPr>
        <p:txBody>
          <a:bodyPr vert="horz" wrap="square" lIns="0" tIns="0" rIns="0" bIns="0" rtlCol="0" anchor="ctr">
            <a:spAutoFit/>
          </a:bodyPr>
          <a:lstStyle>
            <a:lvl1pPr marL="0" indent="0">
              <a:lnSpc>
                <a:spcPct val="100000"/>
              </a:lnSpc>
              <a:spcBef>
                <a:spcPts val="100"/>
              </a:spcBef>
              <a:spcAft>
                <a:spcPts val="100"/>
              </a:spcAft>
              <a:buNone/>
              <a:defRPr lang="zh-CN" altLang="en-US" sz="2400" b="1" smtClean="0">
                <a:solidFill>
                  <a:prstClr val="black"/>
                </a:solidFill>
              </a:defRPr>
            </a:lvl1pPr>
            <a:lvl2pPr>
              <a:defRPr lang="zh-CN" altLang="en-US" sz="1800" smtClean="0"/>
            </a:lvl2pPr>
            <a:lvl3pPr>
              <a:defRPr lang="zh-CN" altLang="en-US" sz="1800" smtClean="0"/>
            </a:lvl3pPr>
            <a:lvl4pPr>
              <a:defRPr lang="zh-CN" altLang="en-US" smtClean="0"/>
            </a:lvl4pPr>
            <a:lvl5pPr>
              <a:defRPr lang="zh-CN" altLang="en-US"/>
            </a:lvl5pPr>
          </a:lstStyle>
          <a:p>
            <a:pPr marL="228600" marR="0" lvl="0" indent="-228600" defTabSz="453600" fontAlgn="auto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tabLst/>
            </a:pPr>
            <a:r>
              <a:rPr lang="zh-CN" altLang="en-US"/>
              <a:t>单击此处编辑母版文本样式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10D5A4AA-F19D-7F43-9D71-02767D898CA7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696000" y="1860189"/>
            <a:ext cx="10537802" cy="276999"/>
          </a:xfrm>
          <a:noFill/>
        </p:spPr>
        <p:txBody>
          <a:bodyPr vert="horz" wrap="square" lIns="0" tIns="0" rIns="0" bIns="0" rtlCol="0">
            <a:spAutoFit/>
          </a:bodyPr>
          <a:lstStyle>
            <a:lvl1pPr marL="0" indent="0">
              <a:lnSpc>
                <a:spcPct val="100000"/>
              </a:lnSpc>
              <a:spcBef>
                <a:spcPts val="100"/>
              </a:spcBef>
              <a:spcAft>
                <a:spcPts val="100"/>
              </a:spcAft>
              <a:buNone/>
              <a:defRPr lang="zh-CN" altLang="en-US" sz="1800" b="0" smtClean="0">
                <a:solidFill>
                  <a:prstClr val="black"/>
                </a:solidFill>
              </a:defRPr>
            </a:lvl1pPr>
            <a:lvl2pPr>
              <a:defRPr lang="zh-CN" altLang="en-US" sz="1800" smtClean="0"/>
            </a:lvl2pPr>
            <a:lvl3pPr>
              <a:defRPr lang="zh-CN" altLang="en-US" sz="1800" smtClean="0"/>
            </a:lvl3pPr>
            <a:lvl4pPr>
              <a:defRPr lang="zh-CN" altLang="en-US" smtClean="0"/>
            </a:lvl4pPr>
            <a:lvl5pPr>
              <a:defRPr lang="zh-CN" altLang="en-US"/>
            </a:lvl5pPr>
          </a:lstStyle>
          <a:p>
            <a:pPr marL="228600" marR="0" lvl="0" indent="-228600" defTabSz="453600" fontAlgn="auto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tabLst/>
            </a:pPr>
            <a:r>
              <a:rPr lang="zh-CN" altLang="en-US"/>
              <a:t>单击此处编辑母版文本样式</a:t>
            </a:r>
          </a:p>
        </p:txBody>
      </p:sp>
    </p:spTree>
    <p:extLst>
      <p:ext uri="{BB962C8B-B14F-4D97-AF65-F5344CB8AC3E}">
        <p14:creationId xmlns:p14="http://schemas.microsoft.com/office/powerpoint/2010/main" val="338951267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id="{9F2B8F47-0096-BB81-B056-6C317A9175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0" y="5125"/>
            <a:ext cx="360000" cy="360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C00000"/>
                </a:solidFill>
              </a:defRPr>
            </a:lvl1pPr>
          </a:lstStyle>
          <a:p>
            <a:fld id="{0EEC669C-3A94-5645-80F3-ED04B501DFEC}" type="slidenum">
              <a:rPr lang="en-CN" smtClean="0"/>
              <a:pPr/>
              <a:t>‹#›</a:t>
            </a:fld>
            <a:endParaRPr lang="en-CN"/>
          </a:p>
        </p:txBody>
      </p:sp>
      <p:sp>
        <p:nvSpPr>
          <p:cNvPr id="2" name="标题 1">
            <a:extLst>
              <a:ext uri="{FF2B5EF4-FFF2-40B4-BE49-F238E27FC236}">
                <a16:creationId xmlns:a16="http://schemas.microsoft.com/office/drawing/2014/main" id="{1AD07EAB-3680-170C-BC1E-FC05937C37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8880" y="294643"/>
            <a:ext cx="10800000" cy="576000"/>
          </a:xfrm>
        </p:spPr>
        <p:txBody>
          <a:bodyPr lIns="0" tIns="0" rIns="0" bIns="0">
            <a:noAutofit/>
          </a:bodyPr>
          <a:lstStyle>
            <a:lvl1pPr>
              <a:lnSpc>
                <a:spcPct val="100000"/>
              </a:lnSpc>
              <a:defRPr sz="3600" b="1" baseline="0">
                <a:latin typeface="Calibri" panose="020F0502020204030204" pitchFamily="34" charset="0"/>
                <a:ea typeface="楷体" panose="02010609060101010101" pitchFamily="49" charset="-122"/>
              </a:defRPr>
            </a:lvl1pPr>
          </a:lstStyle>
          <a:p>
            <a:r>
              <a:rPr lang="zh-CN" altLang="en-US"/>
              <a:t>单击此处编辑母版标题样式</a:t>
            </a:r>
          </a:p>
        </p:txBody>
      </p:sp>
    </p:spTree>
    <p:extLst>
      <p:ext uri="{BB962C8B-B14F-4D97-AF65-F5344CB8AC3E}">
        <p14:creationId xmlns:p14="http://schemas.microsoft.com/office/powerpoint/2010/main" val="3821525983"/>
      </p:ext>
    </p:extLst>
  </p:cSld>
  <p:clrMapOvr>
    <a:masterClrMapping/>
  </p:clrMapOvr>
  <p:hf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5">
            <a:extLst>
              <a:ext uri="{FF2B5EF4-FFF2-40B4-BE49-F238E27FC236}">
                <a16:creationId xmlns:a16="http://schemas.microsoft.com/office/drawing/2014/main" id="{D430967A-9E52-AB27-299B-A5F9562372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0" y="5125"/>
            <a:ext cx="360000" cy="360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C00000"/>
                </a:solidFill>
              </a:defRPr>
            </a:lvl1pPr>
          </a:lstStyle>
          <a:p>
            <a:fld id="{0EEC669C-3A94-5645-80F3-ED04B501DFEC}" type="slidenum">
              <a:rPr lang="en-US" altLang="zh-CN" smtClean="0"/>
              <a:pPr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63173937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272495952"/>
      </p:ext>
    </p:extLst>
  </p:cSld>
  <p:clrMapOvr>
    <a:masterClrMapping/>
  </p:clrMapOvr>
  <p:hf hdr="0" ftr="0" dt="0"/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E4204CA-67D8-B744-A69E-0B96274718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/>
          <a:p>
            <a:pPr lvl="0">
              <a:lnSpc>
                <a:spcPct val="100000"/>
              </a:lnSpc>
            </a:pPr>
            <a:r>
              <a:rPr lang="zh-CN" altLang="en-US"/>
              <a:t>单击此处编辑母版标题样式</a:t>
            </a:r>
            <a:endParaRPr lang="en-C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004C0BE-D8A6-A244-AF4C-D8F130B1387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1918474"/>
          </a:xfrm>
          <a:prstGeom prst="rect">
            <a:avLst/>
          </a:prstGeom>
        </p:spPr>
        <p:txBody>
          <a:bodyPr vert="horz" lIns="0" tIns="0" rIns="0" bIns="0" rtlCol="0">
            <a:sp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C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97EC906-206E-0A4F-8C55-7A549990814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0" y="5125"/>
            <a:ext cx="360000" cy="36000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ctr">
              <a:defRPr sz="1600" b="1">
                <a:solidFill>
                  <a:srgbClr val="C00000"/>
                </a:solidFill>
                <a:latin typeface="Times New Roman" panose="02020603050405020304" pitchFamily="18" charset="0"/>
                <a:ea typeface="FangSong" panose="02010609060101010101" pitchFamily="49" charset="-122"/>
                <a:cs typeface="Times New Roman" panose="02020603050405020304" pitchFamily="18" charset="0"/>
              </a:defRPr>
            </a:lvl1pPr>
          </a:lstStyle>
          <a:p>
            <a:fld id="{0EEC669C-3A94-5645-80F3-ED04B501DFEC}" type="slidenum">
              <a:rPr lang="en-CN" smtClean="0"/>
              <a:pPr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392739162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7" r:id="rId1"/>
    <p:sldLayoutId id="2147483668" r:id="rId2"/>
    <p:sldLayoutId id="2147483664" r:id="rId3"/>
    <p:sldLayoutId id="2147483665" r:id="rId4"/>
    <p:sldLayoutId id="2147483666" r:id="rId5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lang="en-CN" sz="4400" b="1" kern="1200" baseline="0" dirty="0">
          <a:solidFill>
            <a:schemeClr val="tx1"/>
          </a:solidFill>
          <a:latin typeface="Calibri" panose="020F0502020204030204" pitchFamily="34" charset="0"/>
          <a:ea typeface="楷体" panose="02010609060101010101" pitchFamily="49" charset="-122"/>
          <a:cs typeface="+mj-cs"/>
        </a:defRPr>
      </a:lvl1pPr>
    </p:titleStyle>
    <p:bodyStyle>
      <a:lvl1pPr marL="0" indent="0" algn="l" defTabSz="914400" rtl="0" eaLnBrk="1" latinLnBrk="0" hangingPunct="1">
        <a:lnSpc>
          <a:spcPct val="100000"/>
        </a:lnSpc>
        <a:spcBef>
          <a:spcPts val="1000"/>
        </a:spcBef>
        <a:buFont typeface="Arial" panose="020B0604020202020204" pitchFamily="34" charset="0"/>
        <a:buNone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None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None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None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None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6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9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2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6.png"/><Relationship Id="rId4" Type="http://schemas.openxmlformats.org/officeDocument/2006/relationships/image" Target="../media/image25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2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5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8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2.png"/><Relationship Id="rId4" Type="http://schemas.openxmlformats.org/officeDocument/2006/relationships/image" Target="../media/image41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5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8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1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3.png"/><Relationship Id="rId2" Type="http://schemas.openxmlformats.org/officeDocument/2006/relationships/image" Target="../media/image5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4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6.png"/><Relationship Id="rId2" Type="http://schemas.openxmlformats.org/officeDocument/2006/relationships/image" Target="../media/image5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7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9.png"/><Relationship Id="rId2" Type="http://schemas.openxmlformats.org/officeDocument/2006/relationships/image" Target="../media/image58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0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61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2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6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9ECD174-10B3-A233-9B16-EF4C324B0B7A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kumimoji="1" lang="en-US" altLang="zh-CN"/>
              <a:t>CIM</a:t>
            </a:r>
            <a:r>
              <a:rPr kumimoji="1" lang="zh-CN" altLang="en-US"/>
              <a:t> </a:t>
            </a:r>
            <a:r>
              <a:rPr kumimoji="1" lang="en-US" altLang="zh-CN"/>
              <a:t>Roofline</a:t>
            </a:r>
            <a:endParaRPr kumimoji="1" lang="zh-CN" altLang="en-US"/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20795EDB-880E-5C16-E53C-473F73C876E1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kumimoji="1" lang="en-US" altLang="zh-CN"/>
              <a:t>ISCAS</a:t>
            </a:r>
            <a:r>
              <a:rPr kumimoji="1" lang="zh-CN" altLang="en-US"/>
              <a:t> </a:t>
            </a:r>
            <a:r>
              <a:rPr kumimoji="1" lang="en-US" altLang="zh-CN"/>
              <a:t>27</a:t>
            </a:r>
            <a:endParaRPr kumimoji="1" lang="zh-CN" altLang="en-US"/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986E41AB-95C1-5582-9161-167D561066F5}"/>
              </a:ext>
            </a:extLst>
          </p:cNvPr>
          <p:cNvSpPr>
            <a:spLocks noGrp="1"/>
          </p:cNvSpPr>
          <p:nvPr>
            <p:ph idx="10"/>
          </p:nvPr>
        </p:nvSpPr>
        <p:spPr>
          <a:xfrm>
            <a:off x="6096000" y="4358352"/>
            <a:ext cx="4320000" cy="1159292"/>
          </a:xfrm>
        </p:spPr>
        <p:txBody>
          <a:bodyPr/>
          <a:lstStyle/>
          <a:p>
            <a:r>
              <a:rPr kumimoji="1" lang="zh-CN" altLang="en-US"/>
              <a:t>邵瀚雍</a:t>
            </a:r>
            <a:endParaRPr kumimoji="1" lang="en-US" altLang="zh-CN"/>
          </a:p>
          <a:p>
            <a:endParaRPr kumimoji="1" lang="en-US" altLang="zh-CN"/>
          </a:p>
          <a:p>
            <a:r>
              <a:rPr kumimoji="1" lang="en-US" altLang="zh-CN"/>
              <a:t>2026</a:t>
            </a:r>
            <a:r>
              <a:rPr kumimoji="1" lang="zh-CN" altLang="en-US"/>
              <a:t>年</a:t>
            </a:r>
            <a:r>
              <a:rPr kumimoji="1" lang="en-US" altLang="zh-CN"/>
              <a:t>9</a:t>
            </a:r>
            <a:r>
              <a:rPr kumimoji="1" lang="zh-CN" altLang="en-US"/>
              <a:t>月</a:t>
            </a:r>
            <a:r>
              <a:rPr kumimoji="1" lang="en-US" altLang="zh-CN"/>
              <a:t>9</a:t>
            </a:r>
            <a:r>
              <a:rPr kumimoji="1" lang="zh-CN" altLang="en-US"/>
              <a:t>日</a:t>
            </a:r>
          </a:p>
        </p:txBody>
      </p:sp>
    </p:spTree>
    <p:extLst>
      <p:ext uri="{BB962C8B-B14F-4D97-AF65-F5344CB8AC3E}">
        <p14:creationId xmlns:p14="http://schemas.microsoft.com/office/powerpoint/2010/main" val="161992141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710EA3-D710-D609-AE90-C2C7F3D2BB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灯片编号占位符 1">
            <a:extLst>
              <a:ext uri="{FF2B5EF4-FFF2-40B4-BE49-F238E27FC236}">
                <a16:creationId xmlns:a16="http://schemas.microsoft.com/office/drawing/2014/main" id="{5CA27B0A-0971-2A1C-4DD8-2DAE8F7350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EC669C-3A94-5645-80F3-ED04B501DFEC}" type="slidenum">
              <a:rPr lang="en-US" altLang="zh-CN" smtClean="0"/>
              <a:pPr/>
              <a:t>1</a:t>
            </a:fld>
            <a:endParaRPr lang="zh-CN" altLang="en-US"/>
          </a:p>
        </p:txBody>
      </p:sp>
      <p:sp>
        <p:nvSpPr>
          <p:cNvPr id="3" name="标题 2">
            <a:extLst>
              <a:ext uri="{FF2B5EF4-FFF2-40B4-BE49-F238E27FC236}">
                <a16:creationId xmlns:a16="http://schemas.microsoft.com/office/drawing/2014/main" id="{EB43C732-6222-0D33-66C4-0F06A2A931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工作</a:t>
            </a:r>
          </a:p>
        </p:txBody>
      </p:sp>
      <p:sp>
        <p:nvSpPr>
          <p:cNvPr id="5" name="内容占位符 4">
            <a:extLst>
              <a:ext uri="{FF2B5EF4-FFF2-40B4-BE49-F238E27FC236}">
                <a16:creationId xmlns:a16="http://schemas.microsoft.com/office/drawing/2014/main" id="{F4C4292A-00AF-89A9-47AE-A42F32DB06C7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696000" y="1848440"/>
            <a:ext cx="11421202" cy="2844368"/>
          </a:xfrm>
        </p:spPr>
        <p:txBody>
          <a:bodyPr/>
          <a:lstStyle/>
          <a:p>
            <a:pPr>
              <a:spcAft>
                <a:spcPts val="600"/>
              </a:spcAft>
            </a:pPr>
            <a:r>
              <a:rPr lang="en-US" altLang="zh-CN" sz="1600">
                <a:solidFill>
                  <a:schemeClr val="tx1"/>
                </a:solidFill>
                <a:cs typeface="Arial" panose="020B0604020202020204" pitchFamily="34" charset="0"/>
              </a:rPr>
              <a:t>ISCAS</a:t>
            </a:r>
            <a:r>
              <a:rPr lang="zh-CN" altLang="en-US" sz="1600">
                <a:solidFill>
                  <a:schemeClr val="tx1"/>
                </a:solidFill>
                <a:cs typeface="Arial" panose="020B0604020202020204" pitchFamily="34" charset="0"/>
              </a:rPr>
              <a:t>今年不是双盲评审</a:t>
            </a:r>
          </a:p>
          <a:p>
            <a:pPr>
              <a:spcAft>
                <a:spcPts val="600"/>
              </a:spcAft>
            </a:pPr>
            <a:r>
              <a:rPr lang="zh-CN" altLang="en-US" sz="1600">
                <a:solidFill>
                  <a:schemeClr val="tx1"/>
                </a:solidFill>
                <a:cs typeface="Arial" panose="020B0604020202020204" pitchFamily="34" charset="0"/>
              </a:rPr>
              <a:t>论文长度：最多</a:t>
            </a:r>
            <a:r>
              <a:rPr lang="en-US" altLang="zh-CN" sz="1600">
                <a:solidFill>
                  <a:schemeClr val="tx1"/>
                </a:solidFill>
                <a:cs typeface="Arial" panose="020B0604020202020204" pitchFamily="34" charset="0"/>
              </a:rPr>
              <a:t>5</a:t>
            </a:r>
            <a:r>
              <a:rPr lang="zh-CN" altLang="en-US" sz="1600">
                <a:solidFill>
                  <a:schemeClr val="tx1"/>
                </a:solidFill>
                <a:cs typeface="Arial" panose="020B0604020202020204" pitchFamily="34" charset="0"/>
              </a:rPr>
              <a:t>页，其中</a:t>
            </a:r>
            <a:r>
              <a:rPr lang="en-US" altLang="zh-CN" sz="1600">
                <a:solidFill>
                  <a:schemeClr val="tx1"/>
                </a:solidFill>
                <a:cs typeface="Arial" panose="020B0604020202020204" pitchFamily="34" charset="0"/>
              </a:rPr>
              <a:t>4</a:t>
            </a:r>
            <a:r>
              <a:rPr lang="zh-CN" altLang="en-US" sz="1600">
                <a:solidFill>
                  <a:schemeClr val="tx1"/>
                </a:solidFill>
                <a:cs typeface="Arial" panose="020B0604020202020204" pitchFamily="34" charset="0"/>
              </a:rPr>
              <a:t>页为技术内容，包括文本、图表和参考文献（如有），另有一页可选的第</a:t>
            </a:r>
            <a:r>
              <a:rPr lang="en-US" altLang="zh-CN" sz="1600">
                <a:solidFill>
                  <a:schemeClr val="tx1"/>
                </a:solidFill>
                <a:cs typeface="Arial" panose="020B0604020202020204" pitchFamily="34" charset="0"/>
              </a:rPr>
              <a:t>5</a:t>
            </a:r>
            <a:r>
              <a:rPr lang="zh-CN" altLang="en-US" sz="1600">
                <a:solidFill>
                  <a:schemeClr val="tx1"/>
                </a:solidFill>
                <a:cs typeface="Arial" panose="020B0604020202020204" pitchFamily="34" charset="0"/>
              </a:rPr>
              <a:t>页仅包含参考文献</a:t>
            </a:r>
          </a:p>
          <a:p>
            <a:pPr>
              <a:spcAft>
                <a:spcPts val="600"/>
              </a:spcAft>
            </a:pPr>
            <a:endParaRPr lang="en-US" altLang="zh-CN" sz="1600">
              <a:solidFill>
                <a:schemeClr val="tx1"/>
              </a:solidFill>
              <a:cs typeface="Arial" panose="020B0604020202020204" pitchFamily="34" charset="0"/>
            </a:endParaRPr>
          </a:p>
          <a:p>
            <a:pPr>
              <a:spcAft>
                <a:spcPts val="600"/>
              </a:spcAft>
            </a:pPr>
            <a:r>
              <a:rPr lang="en-US" altLang="zh-CN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DDL</a:t>
            </a:r>
            <a:r>
              <a:rPr lang="zh-CN" altLang="en-US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：</a:t>
            </a:r>
            <a:r>
              <a:rPr lang="en-US" altLang="zh-CN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~2026/10/14</a:t>
            </a:r>
            <a:r>
              <a:rPr lang="zh-CN" altLang="en-US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国内下午时间</a:t>
            </a:r>
            <a:endParaRPr lang="en-US" altLang="zh-CN" sz="1600">
              <a:solidFill>
                <a:schemeClr val="tx1"/>
              </a:solidFill>
              <a:ea typeface="黑体" panose="02010609060101010101" pitchFamily="49" charset="-122"/>
              <a:cs typeface="Arial" panose="020B0604020202020204" pitchFamily="34" charset="0"/>
            </a:endParaRPr>
          </a:p>
          <a:p>
            <a:pPr>
              <a:spcAft>
                <a:spcPts val="600"/>
              </a:spcAft>
            </a:pPr>
            <a:endParaRPr lang="en-US" altLang="zh-CN" sz="1600">
              <a:solidFill>
                <a:schemeClr val="tx1"/>
              </a:solidFill>
              <a:ea typeface="黑体" panose="02010609060101010101" pitchFamily="49" charset="-122"/>
              <a:cs typeface="Arial" panose="020B0604020202020204" pitchFamily="34" charset="0"/>
            </a:endParaRPr>
          </a:p>
          <a:p>
            <a:pPr>
              <a:spcAft>
                <a:spcPts val="600"/>
              </a:spcAft>
            </a:pPr>
            <a:r>
              <a:rPr lang="zh-CN" altLang="en-US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核心：</a:t>
            </a:r>
            <a:r>
              <a:rPr lang="en-US" altLang="zh-CN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CIM </a:t>
            </a:r>
            <a:r>
              <a:rPr lang="zh-CN" altLang="en-US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将一类操作数保存为计算状态，另一类操作数流过该状态完成计算。因此，性能不仅取决于流式求值能力，还取决于驻留状态建立和更新的代价，以及该代价被多少流式工作所摊销</a:t>
            </a:r>
            <a:endParaRPr lang="en-US" altLang="zh-CN" sz="1600">
              <a:solidFill>
                <a:schemeClr val="tx1"/>
              </a:solidFill>
              <a:ea typeface="黑体" panose="02010609060101010101" pitchFamily="49" charset="-122"/>
              <a:cs typeface="Arial" panose="020B0604020202020204" pitchFamily="34" charset="0"/>
            </a:endParaRPr>
          </a:p>
          <a:p>
            <a:pPr>
              <a:spcAft>
                <a:spcPts val="600"/>
              </a:spcAft>
            </a:pPr>
            <a:endParaRPr lang="en-US" altLang="zh-CN" sz="1600">
              <a:solidFill>
                <a:schemeClr val="tx1"/>
              </a:solidFill>
              <a:ea typeface="黑体" panose="02010609060101010101" pitchFamily="49" charset="-122"/>
              <a:cs typeface="Arial" panose="020B0604020202020204" pitchFamily="34" charset="0"/>
            </a:endParaRPr>
          </a:p>
          <a:p>
            <a:pPr>
              <a:spcAft>
                <a:spcPts val="600"/>
              </a:spcAft>
            </a:pPr>
            <a:r>
              <a:rPr lang="zh-CN" altLang="en-US" sz="1600" b="1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题目：存算一体架构的</a:t>
            </a:r>
            <a:r>
              <a:rPr lang="en-US" altLang="zh-CN" sz="1600" b="1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Roofline</a:t>
            </a:r>
            <a:r>
              <a:rPr lang="zh-CN" altLang="en-US" sz="1600" b="1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模型？</a:t>
            </a:r>
            <a:endParaRPr lang="en-US" altLang="zh-CN" sz="1600" b="1">
              <a:solidFill>
                <a:schemeClr val="tx1"/>
              </a:solidFill>
              <a:ea typeface="黑体" panose="02010609060101010101" pitchFamily="49" charset="-122"/>
              <a:cs typeface="Arial" panose="020B0604020202020204" pitchFamily="34" charset="0"/>
            </a:endParaRP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4D331936-B8FC-A114-96B6-115568608E6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33801" y="1230122"/>
            <a:ext cx="10966163" cy="369332"/>
          </a:xfrm>
        </p:spPr>
        <p:txBody>
          <a:bodyPr/>
          <a:lstStyle/>
          <a:p>
            <a:r>
              <a:rPr lang="zh-CN" altLang="en-US"/>
              <a:t>会议情况</a:t>
            </a:r>
          </a:p>
        </p:txBody>
      </p:sp>
    </p:spTree>
    <p:extLst>
      <p:ext uri="{BB962C8B-B14F-4D97-AF65-F5344CB8AC3E}">
        <p14:creationId xmlns:p14="http://schemas.microsoft.com/office/powerpoint/2010/main" val="169439395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4DD7E0-5B91-4E8F-3C39-231799D329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灯片编号占位符 1">
            <a:extLst>
              <a:ext uri="{FF2B5EF4-FFF2-40B4-BE49-F238E27FC236}">
                <a16:creationId xmlns:a16="http://schemas.microsoft.com/office/drawing/2014/main" id="{449EB6C9-A7B2-4BD9-CC37-4CD3BAFAED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EC669C-3A94-5645-80F3-ED04B501DFEC}" type="slidenum">
              <a:rPr lang="en-US" altLang="zh-CN" smtClean="0"/>
              <a:pPr/>
              <a:t>2</a:t>
            </a:fld>
            <a:endParaRPr lang="zh-CN" altLang="en-US"/>
          </a:p>
        </p:txBody>
      </p:sp>
      <p:sp>
        <p:nvSpPr>
          <p:cNvPr id="3" name="标题 2">
            <a:extLst>
              <a:ext uri="{FF2B5EF4-FFF2-40B4-BE49-F238E27FC236}">
                <a16:creationId xmlns:a16="http://schemas.microsoft.com/office/drawing/2014/main" id="{DE00CFE2-9D83-021D-D4A9-FEFA280551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工作</a:t>
            </a:r>
          </a:p>
        </p:txBody>
      </p:sp>
      <p:sp>
        <p:nvSpPr>
          <p:cNvPr id="5" name="内容占位符 4">
            <a:extLst>
              <a:ext uri="{FF2B5EF4-FFF2-40B4-BE49-F238E27FC236}">
                <a16:creationId xmlns:a16="http://schemas.microsoft.com/office/drawing/2014/main" id="{2D44965C-E949-7CE1-DCFE-1185A0489000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696000" y="1848440"/>
            <a:ext cx="11421202" cy="246221"/>
          </a:xfrm>
        </p:spPr>
        <p:txBody>
          <a:bodyPr/>
          <a:lstStyle/>
          <a:p>
            <a:pPr>
              <a:spcAft>
                <a:spcPts val="600"/>
              </a:spcAft>
            </a:pPr>
            <a:r>
              <a:rPr lang="zh-CN" altLang="en-US" sz="1600" b="1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题目：存算一体架构的</a:t>
            </a:r>
            <a:r>
              <a:rPr lang="en-US" altLang="zh-CN" sz="1600" b="1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Roofline</a:t>
            </a:r>
            <a:r>
              <a:rPr lang="zh-CN" altLang="en-US" sz="1600" b="1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模型</a:t>
            </a:r>
            <a:endParaRPr lang="en-US" altLang="zh-CN" sz="1600" b="1">
              <a:solidFill>
                <a:schemeClr val="tx1"/>
              </a:solidFill>
              <a:ea typeface="黑体" panose="02010609060101010101" pitchFamily="49" charset="-122"/>
              <a:cs typeface="Arial" panose="020B0604020202020204" pitchFamily="34" charset="0"/>
            </a:endParaRP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B6C0E3AC-03A4-7CF3-1112-EB7DFA38E5F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33801" y="1230122"/>
            <a:ext cx="10966163" cy="369332"/>
          </a:xfrm>
        </p:spPr>
        <p:txBody>
          <a:bodyPr/>
          <a:lstStyle/>
          <a:p>
            <a:r>
              <a:rPr lang="zh-CN" altLang="en-US"/>
              <a:t>论文的整体结构</a:t>
            </a:r>
          </a:p>
        </p:txBody>
      </p:sp>
      <p:graphicFrame>
        <p:nvGraphicFramePr>
          <p:cNvPr id="7" name="表格 6">
            <a:extLst>
              <a:ext uri="{FF2B5EF4-FFF2-40B4-BE49-F238E27FC236}">
                <a16:creationId xmlns:a16="http://schemas.microsoft.com/office/drawing/2014/main" id="{557D2015-5D19-5765-418C-7B4BE284938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34077683"/>
              </p:ext>
            </p:extLst>
          </p:nvPr>
        </p:nvGraphicFramePr>
        <p:xfrm>
          <a:off x="696000" y="2702877"/>
          <a:ext cx="11186160" cy="3549211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139440">
                  <a:extLst>
                    <a:ext uri="{9D8B030D-6E8A-4147-A177-3AD203B41FA5}">
                      <a16:colId xmlns:a16="http://schemas.microsoft.com/office/drawing/2014/main" val="3643538404"/>
                    </a:ext>
                  </a:extLst>
                </a:gridCol>
                <a:gridCol w="5554980">
                  <a:extLst>
                    <a:ext uri="{9D8B030D-6E8A-4147-A177-3AD203B41FA5}">
                      <a16:colId xmlns:a16="http://schemas.microsoft.com/office/drawing/2014/main" val="2150991689"/>
                    </a:ext>
                  </a:extLst>
                </a:gridCol>
                <a:gridCol w="2491740">
                  <a:extLst>
                    <a:ext uri="{9D8B030D-6E8A-4147-A177-3AD203B41FA5}">
                      <a16:colId xmlns:a16="http://schemas.microsoft.com/office/drawing/2014/main" val="4003314017"/>
                    </a:ext>
                  </a:extLst>
                </a:gridCol>
              </a:tblGrid>
              <a:tr h="27012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sz="1600" b="1"/>
                        <a:t>章节</a:t>
                      </a:r>
                    </a:p>
                  </a:txBody>
                  <a:tcPr marL="37602" marR="37602" marT="18801" marB="18801" anchor="ctr"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sz="1600" b="1"/>
                        <a:t>二级标题与主要内容</a:t>
                      </a:r>
                    </a:p>
                  </a:txBody>
                  <a:tcPr marL="37602" marR="37602" marT="18801" marB="18801" anchor="ctr"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sz="1600" b="1"/>
                        <a:t>大致位置</a:t>
                      </a:r>
                    </a:p>
                  </a:txBody>
                  <a:tcPr marL="37602" marR="37602" marT="18801" marB="18801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35863752"/>
                  </a:ext>
                </a:extLst>
              </a:tr>
              <a:tr h="67531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sz="1600"/>
                        <a:t>I. Introduction</a:t>
                      </a:r>
                    </a:p>
                  </a:txBody>
                  <a:tcPr marL="37602" marR="37602" marT="18801" marB="18801" anchor="ctr"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sz="1600"/>
                        <a:t>架构差异、现有表述的缺口、本文贡献；相关工作融入其中，不单列长综述</a:t>
                      </a:r>
                    </a:p>
                  </a:txBody>
                  <a:tcPr marL="37602" marR="37602" marT="18801" marB="18801" anchor="ctr"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sz="1600"/>
                        <a:t>第 1 页前半</a:t>
                      </a:r>
                    </a:p>
                  </a:txBody>
                  <a:tcPr marL="37602" marR="37602" marT="18801" marB="18801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57599494"/>
                  </a:ext>
                </a:extLst>
              </a:tr>
              <a:tr h="67531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sz="1600"/>
                        <a:t>II. A Resident–Streaming Roofline for CIM</a:t>
                      </a:r>
                    </a:p>
                  </a:txBody>
                  <a:tcPr marL="37602" marR="37602" marT="18801" marB="18801" anchor="ctr"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sz="1600" b="1"/>
                        <a:t>A. 操作数角色与</a:t>
                      </a:r>
                      <a:r>
                        <a:rPr lang="zh-CN" altLang="en-US" sz="1600" b="1"/>
                        <a:t>分析</a:t>
                      </a:r>
                      <a:r>
                        <a:rPr lang="zh-CN" sz="1600" b="1"/>
                        <a:t>边界；B. 窗口化需求、上界与分区；</a:t>
                      </a:r>
                      <a:br>
                        <a:rPr lang="en-US" altLang="zh-CN" sz="1600" b="1"/>
                      </a:br>
                      <a:r>
                        <a:rPr lang="zh-CN" sz="1600" b="1"/>
                        <a:t>C. 与传统性能</a:t>
                      </a:r>
                      <a:r>
                        <a:rPr lang="zh-CN" altLang="en-US" sz="1600" b="1"/>
                        <a:t>分析</a:t>
                      </a:r>
                      <a:r>
                        <a:rPr lang="zh-CN" sz="1600" b="1"/>
                        <a:t>的联系及两个算例</a:t>
                      </a:r>
                    </a:p>
                  </a:txBody>
                  <a:tcPr marL="37602" marR="37602" marT="18801" marB="18801" anchor="ctr"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sz="1600"/>
                        <a:t>第 1 页后半至第 2 页</a:t>
                      </a:r>
                    </a:p>
                  </a:txBody>
                  <a:tcPr marL="37602" marR="37602" marT="18801" marB="18801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01345741"/>
                  </a:ext>
                </a:extLst>
              </a:tr>
              <a:tr h="67531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sz="1600"/>
                        <a:t>III. Hardware and Workload Characterization</a:t>
                      </a:r>
                    </a:p>
                  </a:txBody>
                  <a:tcPr marL="37602" marR="37602" marT="18801" marB="18801" anchor="ctr"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sz="1600" b="1"/>
                        <a:t>A. 文献支持的硬件能力范围</a:t>
                      </a:r>
                      <a:r>
                        <a:rPr lang="zh-CN" altLang="en-US" sz="1600" b="1"/>
                        <a:t>分析</a:t>
                      </a:r>
                      <a:r>
                        <a:rPr lang="zh-CN" sz="1600" b="1"/>
                        <a:t>；</a:t>
                      </a:r>
                      <a:br>
                        <a:rPr lang="en-US" altLang="zh-CN" sz="1600" b="1"/>
                      </a:br>
                      <a:r>
                        <a:rPr lang="zh-CN" sz="1600" b="1"/>
                        <a:t>B. 明确驻留策略下的</a:t>
                      </a:r>
                      <a:r>
                        <a:rPr lang="zh-CN" altLang="en-US" sz="1600" b="1"/>
                        <a:t>算法</a:t>
                      </a:r>
                      <a:r>
                        <a:rPr lang="zh-CN" sz="1600" b="1"/>
                        <a:t> workload 需求</a:t>
                      </a:r>
                    </a:p>
                  </a:txBody>
                  <a:tcPr marL="37602" marR="37602" marT="18801" marB="18801" anchor="ctr"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sz="1600"/>
                        <a:t>主要在第 3 页</a:t>
                      </a:r>
                    </a:p>
                  </a:txBody>
                  <a:tcPr marL="37602" marR="37602" marT="18801" marB="18801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93687827"/>
                  </a:ext>
                </a:extLst>
              </a:tr>
              <a:tr h="67531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sz="1600" b="1"/>
                        <a:t>IV. Workload–Hardware Matching and Design Implications</a:t>
                      </a:r>
                    </a:p>
                  </a:txBody>
                  <a:tcPr marL="37602" marR="37602" marT="18801" marB="18801" anchor="ctr"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sz="1600" dirty="0"/>
                        <a:t>A. 适配</a:t>
                      </a:r>
                      <a:r>
                        <a:rPr lang="zh-CN" altLang="en-US" sz="1600" dirty="0"/>
                        <a:t>区间的</a:t>
                      </a:r>
                      <a:r>
                        <a:rPr lang="zh-CN" sz="1600" dirty="0"/>
                        <a:t>结论；B. 瓶颈导向的设计选择</a:t>
                      </a:r>
                    </a:p>
                  </a:txBody>
                  <a:tcPr marL="37602" marR="37602" marT="18801" marB="18801" anchor="ctr"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sz="1600"/>
                        <a:t>主要在第 4 页</a:t>
                      </a:r>
                    </a:p>
                  </a:txBody>
                  <a:tcPr marL="37602" marR="37602" marT="18801" marB="18801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64798894"/>
                  </a:ext>
                </a:extLst>
              </a:tr>
              <a:tr h="47271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sz="1600"/>
                        <a:t>V. Conclusion</a:t>
                      </a:r>
                    </a:p>
                  </a:txBody>
                  <a:tcPr marL="37602" marR="37602" marT="18801" marB="18801" anchor="ctr"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sz="1600"/>
                        <a:t>重述统一框架及其设计用途，不再提出新理论</a:t>
                      </a:r>
                    </a:p>
                  </a:txBody>
                  <a:tcPr marL="37602" marR="37602" marT="18801" marB="18801" anchor="ctr"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sz="1600" dirty="0"/>
                        <a:t>第 4 页末尾</a:t>
                      </a:r>
                    </a:p>
                  </a:txBody>
                  <a:tcPr marL="37602" marR="37602" marT="18801" marB="18801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1830643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69690299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4F7920-92C2-CB80-3B1A-49EABB22D7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灯片编号占位符 1">
            <a:extLst>
              <a:ext uri="{FF2B5EF4-FFF2-40B4-BE49-F238E27FC236}">
                <a16:creationId xmlns:a16="http://schemas.microsoft.com/office/drawing/2014/main" id="{53FBAEE2-4773-7DEC-2EB2-241BCBBBAC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EC669C-3A94-5645-80F3-ED04B501DFEC}" type="slidenum">
              <a:rPr lang="en-US" altLang="zh-CN" smtClean="0"/>
              <a:pPr/>
              <a:t>3</a:t>
            </a:fld>
            <a:endParaRPr lang="zh-CN" altLang="en-US"/>
          </a:p>
        </p:txBody>
      </p:sp>
      <p:sp>
        <p:nvSpPr>
          <p:cNvPr id="3" name="标题 2">
            <a:extLst>
              <a:ext uri="{FF2B5EF4-FFF2-40B4-BE49-F238E27FC236}">
                <a16:creationId xmlns:a16="http://schemas.microsoft.com/office/drawing/2014/main" id="{49DBB1B7-CF85-05D7-A845-1A0B4942FB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工作</a:t>
            </a:r>
          </a:p>
        </p:txBody>
      </p:sp>
      <p:sp>
        <p:nvSpPr>
          <p:cNvPr id="5" name="内容占位符 4">
            <a:extLst>
              <a:ext uri="{FF2B5EF4-FFF2-40B4-BE49-F238E27FC236}">
                <a16:creationId xmlns:a16="http://schemas.microsoft.com/office/drawing/2014/main" id="{0DBBD2F2-350B-EDEC-80D2-58D2960636AC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696000" y="1848440"/>
            <a:ext cx="11421202" cy="948978"/>
          </a:xfrm>
        </p:spPr>
        <p:txBody>
          <a:bodyPr/>
          <a:lstStyle/>
          <a:p>
            <a:pPr>
              <a:spcAft>
                <a:spcPts val="600"/>
              </a:spcAft>
            </a:pPr>
            <a:r>
              <a:rPr lang="zh-CN" altLang="en-US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表</a:t>
            </a:r>
            <a:r>
              <a:rPr lang="en-US" altLang="zh-CN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1</a:t>
            </a:r>
            <a:r>
              <a:rPr lang="zh-CN" altLang="en-US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：硬件的能力（</a:t>
            </a:r>
            <a:r>
              <a:rPr lang="zh-CN" altLang="zh-CN" sz="1600"/>
              <a:t>不同实现的两路能力处在什么范围</a:t>
            </a:r>
            <a:r>
              <a:rPr lang="zh-CN" altLang="en-US" sz="1600"/>
              <a:t>）</a:t>
            </a:r>
            <a:endParaRPr lang="en-US" altLang="zh-CN" sz="1600">
              <a:solidFill>
                <a:schemeClr val="tx1"/>
              </a:solidFill>
              <a:ea typeface="黑体" panose="02010609060101010101" pitchFamily="49" charset="-122"/>
              <a:cs typeface="Arial" panose="020B0604020202020204" pitchFamily="34" charset="0"/>
            </a:endParaRPr>
          </a:p>
          <a:p>
            <a:pPr>
              <a:spcAft>
                <a:spcPts val="600"/>
              </a:spcAft>
            </a:pPr>
            <a:r>
              <a:rPr lang="zh-CN" altLang="en-US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表</a:t>
            </a:r>
            <a:r>
              <a:rPr lang="en-US" altLang="zh-CN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2</a:t>
            </a:r>
            <a:r>
              <a:rPr lang="zh-CN" altLang="en-US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：算法的需求（</a:t>
            </a:r>
            <a:r>
              <a:rPr lang="zh-CN" altLang="zh-CN" sz="1600"/>
              <a:t>负载的需求由哪些执行条件决定</a:t>
            </a:r>
            <a:r>
              <a:rPr lang="zh-CN" altLang="en-US" sz="1600"/>
              <a:t>）</a:t>
            </a:r>
            <a:endParaRPr lang="en-US" altLang="zh-CN" sz="1600">
              <a:solidFill>
                <a:schemeClr val="tx1"/>
              </a:solidFill>
              <a:ea typeface="黑体" panose="02010609060101010101" pitchFamily="49" charset="-122"/>
              <a:cs typeface="Arial" panose="020B0604020202020204" pitchFamily="34" charset="0"/>
            </a:endParaRPr>
          </a:p>
          <a:p>
            <a:pPr>
              <a:spcAft>
                <a:spcPts val="600"/>
              </a:spcAft>
            </a:pPr>
            <a:r>
              <a:rPr lang="zh-CN" altLang="en-US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表</a:t>
            </a:r>
            <a:r>
              <a:rPr lang="en-US" altLang="zh-CN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3</a:t>
            </a:r>
            <a:r>
              <a:rPr lang="zh-CN" altLang="en-US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：决策和分析（</a:t>
            </a:r>
            <a:r>
              <a:rPr lang="zh-CN" altLang="zh-CN" sz="1600"/>
              <a:t>在什么条件下匹配，以及应该优先</a:t>
            </a:r>
            <a:r>
              <a:rPr lang="zh-CN" altLang="en-US" sz="1600"/>
              <a:t>设计的方向）</a:t>
            </a:r>
            <a:endParaRPr lang="en-US" altLang="zh-CN" sz="1600">
              <a:solidFill>
                <a:schemeClr val="tx1"/>
              </a:solidFill>
              <a:ea typeface="黑体" panose="02010609060101010101" pitchFamily="49" charset="-122"/>
              <a:cs typeface="Arial" panose="020B0604020202020204" pitchFamily="34" charset="0"/>
            </a:endParaRP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D22BD0C9-46BE-582A-F511-F0175EADF3F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33801" y="1230122"/>
            <a:ext cx="10966163" cy="369332"/>
          </a:xfrm>
        </p:spPr>
        <p:txBody>
          <a:bodyPr/>
          <a:lstStyle/>
          <a:p>
            <a:r>
              <a:rPr lang="zh-CN" altLang="en-US"/>
              <a:t>论文的整体结构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6" name="表格 5">
                <a:extLst>
                  <a:ext uri="{FF2B5EF4-FFF2-40B4-BE49-F238E27FC236}">
                    <a16:creationId xmlns:a16="http://schemas.microsoft.com/office/drawing/2014/main" id="{B9F2A716-5000-DB6B-03ED-4D00880F9208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4274316513"/>
                  </p:ext>
                </p:extLst>
              </p:nvPr>
            </p:nvGraphicFramePr>
            <p:xfrm>
              <a:off x="696000" y="2943070"/>
              <a:ext cx="11153100" cy="3838624"/>
            </p:xfrm>
            <a:graphic>
              <a:graphicData uri="http://schemas.openxmlformats.org/drawingml/2006/table">
                <a:tbl>
                  <a:tblPr>
                    <a:tableStyleId>{5C22544A-7EE6-4342-B048-85BDC9FD1C3A}</a:tableStyleId>
                  </a:tblPr>
                  <a:tblGrid>
                    <a:gridCol w="1186140">
                      <a:extLst>
                        <a:ext uri="{9D8B030D-6E8A-4147-A177-3AD203B41FA5}">
                          <a16:colId xmlns:a16="http://schemas.microsoft.com/office/drawing/2014/main" val="4220692121"/>
                        </a:ext>
                      </a:extLst>
                    </a:gridCol>
                    <a:gridCol w="4390410">
                      <a:extLst>
                        <a:ext uri="{9D8B030D-6E8A-4147-A177-3AD203B41FA5}">
                          <a16:colId xmlns:a16="http://schemas.microsoft.com/office/drawing/2014/main" val="1806466084"/>
                        </a:ext>
                      </a:extLst>
                    </a:gridCol>
                    <a:gridCol w="3122910">
                      <a:extLst>
                        <a:ext uri="{9D8B030D-6E8A-4147-A177-3AD203B41FA5}">
                          <a16:colId xmlns:a16="http://schemas.microsoft.com/office/drawing/2014/main" val="2680918418"/>
                        </a:ext>
                      </a:extLst>
                    </a:gridCol>
                    <a:gridCol w="2453640">
                      <a:extLst>
                        <a:ext uri="{9D8B030D-6E8A-4147-A177-3AD203B41FA5}">
                          <a16:colId xmlns:a16="http://schemas.microsoft.com/office/drawing/2014/main" val="826689425"/>
                        </a:ext>
                      </a:extLst>
                    </a:gridCol>
                  </a:tblGrid>
                  <a:tr h="223668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zh-CN" sz="1600" b="1"/>
                            <a:t>编号</a:t>
                          </a:r>
                        </a:p>
                      </a:txBody>
                      <a:tcPr marL="33064" marR="33064" marT="16532" marB="16532" anchor="ctr"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zh-CN" sz="1600" b="1"/>
                            <a:t>标题</a:t>
                          </a:r>
                        </a:p>
                      </a:txBody>
                      <a:tcPr marL="33064" marR="33064" marT="16532" marB="16532" anchor="ctr"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zh-CN" sz="1600" b="1"/>
                            <a:t>内容与唯一任务</a:t>
                          </a:r>
                        </a:p>
                      </a:txBody>
                      <a:tcPr marL="33064" marR="33064" marT="16532" marB="16532" anchor="ctr"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zh-CN" sz="1600" b="1"/>
                            <a:t>位置／版式</a:t>
                          </a:r>
                        </a:p>
                      </a:txBody>
                      <a:tcPr marL="33064" marR="33064" marT="16532" marB="16532" anchor="ctr"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499235388"/>
                      </a:ext>
                    </a:extLst>
                  </a:tr>
                  <a:tr h="735910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zh-CN" sz="1600" b="1"/>
                            <a:t>Fig. 1</a:t>
                          </a:r>
                        </a:p>
                      </a:txBody>
                      <a:tcPr marL="33064" marR="33064" marT="16532" marB="16532" anchor="ctr"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zh-CN" sz="1600"/>
                            <a:t>存算分离与存算融合下的操作数路径</a:t>
                          </a:r>
                        </a:p>
                      </a:txBody>
                      <a:tcPr marL="33064" marR="33064" marT="16532" marB="16532" anchor="ctr"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zh-CN" sz="1600"/>
                            <a:t>让读者直观看到：为什么 resident 与 streaming 值得分开计量</a:t>
                          </a:r>
                        </a:p>
                      </a:txBody>
                      <a:tcPr marL="33064" marR="33064" marT="16532" marB="16532" anchor="ctr"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zh-CN" sz="1600"/>
                            <a:t>第 1 页，单栏示意图</a:t>
                          </a:r>
                        </a:p>
                      </a:txBody>
                      <a:tcPr marL="33064" marR="33064" marT="16532" marB="16532" anchor="ctr"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981333852"/>
                      </a:ext>
                    </a:extLst>
                  </a:tr>
                  <a:tr h="565162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zh-CN" sz="1600" b="1"/>
                            <a:t>Fig. 2</a:t>
                          </a:r>
                        </a:p>
                      </a:txBody>
                      <a:tcPr marL="33064" marR="33064" marT="16532" marB="16532" anchor="ctr"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zh-CN" sz="1600"/>
                            <a:t>经典 Roofline 与 resident–streaming Roofline</a:t>
                          </a:r>
                        </a:p>
                      </a:txBody>
                      <a:tcPr marL="33064" marR="33064" marT="16532" marB="16532" anchor="ctr"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zh-CN" sz="1600"/>
                            <a:t>两套曲线并排，加精简对应表，完成模型介绍</a:t>
                          </a:r>
                        </a:p>
                      </a:txBody>
                      <a:tcPr marL="33064" marR="33064" marT="16532" marB="16532" anchor="ctr"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zh-CN" sz="1600"/>
                            <a:t>第 2 页，优先跨双栏</a:t>
                          </a:r>
                        </a:p>
                      </a:txBody>
                      <a:tcPr marL="33064" marR="33064" marT="16532" marB="16532" anchor="ctr"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80243390"/>
                      </a:ext>
                    </a:extLst>
                  </a:tr>
                  <a:tr h="565162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zh-CN" sz="1600" b="1"/>
                            <a:t>Table I</a:t>
                          </a:r>
                        </a:p>
                      </a:txBody>
                      <a:tcPr marL="33064" marR="33064" marT="16532" marB="16532" anchor="ctr"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zh-CN" sz="1600" b="1"/>
                            <a:t>代表性 CIM 实现的流式与驻留更新能力</a:t>
                          </a:r>
                        </a:p>
                      </a:txBody>
                      <a:tcPr marL="33064" marR="33064" marT="16532" marB="16532" anchor="ctr"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zh-CN" sz="1600"/>
                            <a:t>给出文献支持的 </a:t>
                          </a:r>
                          <a14:m>
                            <m:oMath xmlns:m="http://schemas.openxmlformats.org/officeDocument/2006/math">
                              <m:r>
                                <a:rPr lang="zh-CN" altLang="en-US" sz="1600">
                                  <a:latin typeface="Cambria Math" panose="02040503050406030204" pitchFamily="18" charset="0"/>
                                </a:rPr>
                                <m:t>𝜌</m:t>
                              </m:r>
                              <m:r>
                                <a:rPr lang="en-US" altLang="zh-CN" sz="160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zh-CN" altLang="en-US" sz="1600">
                                  <a:latin typeface="Cambria Math" panose="02040503050406030204" pitchFamily="18" charset="0"/>
                                </a:rPr>
                                <m:t>𝜏</m:t>
                              </m:r>
                              <m:r>
                                <a:rPr lang="en-US" altLang="zh-CN" sz="160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zh-CN" altLang="en-US" sz="1600"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  <m:sSup>
                                <m:sSupPr>
                                  <m:ctrlPr>
                                    <a:rPr lang="zh-CN" altLang="en-US" sz="160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zh-CN" altLang="en-US" sz="1600">
                                      <a:latin typeface="Cambria Math" panose="02040503050406030204" pitchFamily="18" charset="0"/>
                                    </a:rPr>
                                    <m:t>𝐼</m:t>
                                  </m:r>
                                </m:e>
                                <m:sup>
                                  <m:r>
                                    <a:rPr lang="zh-CN" altLang="en-US" sz="1600">
                                      <a:latin typeface="Cambria Math" panose="02040503050406030204" pitchFamily="18" charset="0"/>
                                    </a:rPr>
                                    <m:t>∗</m:t>
                                  </m:r>
                                </m:sup>
                              </m:sSup>
                            </m:oMath>
                          </a14:m>
                          <a:r>
                            <a:rPr lang="zh-CN" sz="1600"/>
                            <a:t>范围及其适用条件</a:t>
                          </a:r>
                        </a:p>
                      </a:txBody>
                      <a:tcPr marL="33064" marR="33064" marT="16532" marB="16532" anchor="ctr"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zh-CN" sz="1600"/>
                            <a:t>第 3 页，允许跨双栏</a:t>
                          </a:r>
                        </a:p>
                      </a:txBody>
                      <a:tcPr marL="33064" marR="33064" marT="16532" marB="16532" anchor="ctr"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535762458"/>
                      </a:ext>
                    </a:extLst>
                  </a:tr>
                  <a:tr h="565162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zh-CN" sz="1600" b="1"/>
                            <a:t>Table II</a:t>
                          </a:r>
                        </a:p>
                      </a:txBody>
                      <a:tcPr marL="33064" marR="33064" marT="16532" marB="16532" anchor="ctr"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zh-CN" sz="1600" b="1"/>
                            <a:t>代表性 workload 的窗口化操作数需求</a:t>
                          </a:r>
                        </a:p>
                      </a:txBody>
                      <a:tcPr marL="33064" marR="33064" marT="16532" marB="16532" anchor="ctr"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zh-CN" sz="1600"/>
                            <a:t>给出 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zh-CN" altLang="en-US" sz="160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zh-CN" altLang="en-US" sz="1600">
                                      <a:latin typeface="Cambria Math" panose="02040503050406030204" pitchFamily="18" charset="0"/>
                                    </a:rPr>
                                    <m:t>𝑄</m:t>
                                  </m:r>
                                </m:e>
                                <m:sub>
                                  <m:r>
                                    <a:rPr lang="zh-CN" altLang="en-US" sz="1600">
                                      <a:latin typeface="Cambria Math" panose="02040503050406030204" pitchFamily="18" charset="0"/>
                                    </a:rPr>
                                    <m:t>𝑅</m:t>
                                  </m:r>
                                </m:sub>
                              </m:sSub>
                              <m:r>
                                <a:rPr lang="en-US" altLang="zh-CN" sz="160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zh-CN" altLang="en-US" sz="160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zh-CN" altLang="en-US" sz="1600">
                                      <a:latin typeface="Cambria Math" panose="02040503050406030204" pitchFamily="18" charset="0"/>
                                    </a:rPr>
                                    <m:t>𝑄</m:t>
                                  </m:r>
                                </m:e>
                                <m:sub>
                                  <m:r>
                                    <a:rPr lang="zh-CN" altLang="en-US" sz="1600"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sub>
                              </m:sSub>
                              <m:r>
                                <a:rPr lang="en-US" altLang="zh-CN" sz="160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zh-CN" altLang="en-US" sz="1600">
                                  <a:latin typeface="Cambria Math" panose="02040503050406030204" pitchFamily="18" charset="0"/>
                                </a:rPr>
                                <m:t>𝑅𝐼</m:t>
                              </m:r>
                            </m:oMath>
                          </a14:m>
                          <a:r>
                            <a:rPr lang="zh-CN" sz="1600"/>
                            <a:t>，明确窗口、精度与驻留策略</a:t>
                          </a:r>
                        </a:p>
                      </a:txBody>
                      <a:tcPr marL="33064" marR="33064" marT="16532" marB="16532" anchor="ctr"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zh-CN" sz="1600"/>
                            <a:t>第 3 页附近，允许跨双栏</a:t>
                          </a:r>
                        </a:p>
                      </a:txBody>
                      <a:tcPr marL="33064" marR="33064" marT="16532" marB="16532" anchor="ctr"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4149761412"/>
                      </a:ext>
                    </a:extLst>
                  </a:tr>
                  <a:tr h="565162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zh-CN" sz="1600" b="1"/>
                            <a:t>Table III</a:t>
                          </a:r>
                        </a:p>
                      </a:txBody>
                      <a:tcPr marL="33064" marR="33064" marT="16532" marB="16532" anchor="ctr"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zh-CN" sz="1600" b="1"/>
                            <a:t>Workload–CIM 适配关系与瓶颈判定</a:t>
                          </a:r>
                        </a:p>
                      </a:txBody>
                      <a:tcPr marL="33064" marR="33064" marT="16532" marB="16532" anchor="ctr"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zh-CN" sz="1600"/>
                            <a:t>将前两表连接起来，指出适配条件和优先改进方向</a:t>
                          </a:r>
                        </a:p>
                      </a:txBody>
                      <a:tcPr marL="33064" marR="33064" marT="16532" marB="16532" anchor="ctr"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zh-CN" sz="1600"/>
                            <a:t>第 4 页，尽量紧凑</a:t>
                          </a:r>
                        </a:p>
                      </a:txBody>
                      <a:tcPr marL="33064" marR="33064" marT="16532" marB="16532" anchor="ctr"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323790604"/>
                      </a:ext>
                    </a:extLst>
                  </a:tr>
                  <a:tr h="565162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zh-CN" sz="1600" b="1"/>
                            <a:t>Fig. 3</a:t>
                          </a:r>
                        </a:p>
                      </a:txBody>
                      <a:tcPr marL="33064" marR="33064" marT="16532" marB="16532" anchor="ctr"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zh-CN" sz="1600"/>
                            <a:t>流式能力与驻留更新能力提升的不同收益</a:t>
                          </a:r>
                        </a:p>
                      </a:txBody>
                      <a:tcPr marL="33064" marR="33064" marT="16532" marB="16532" anchor="ctr"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zh-CN" sz="1600"/>
                            <a:t>用简单曲线说明：优化错误通路，可能没有吞吐收益</a:t>
                          </a:r>
                        </a:p>
                      </a:txBody>
                      <a:tcPr marL="33064" marR="33064" marT="16532" marB="16532" anchor="ctr"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zh-CN" sz="1600"/>
                            <a:t>第 4 页，单栏分析图</a:t>
                          </a:r>
                        </a:p>
                      </a:txBody>
                      <a:tcPr marL="33064" marR="33064" marT="16532" marB="16532" anchor="ctr"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3503440758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6" name="表格 5">
                <a:extLst>
                  <a:ext uri="{FF2B5EF4-FFF2-40B4-BE49-F238E27FC236}">
                    <a16:creationId xmlns:a16="http://schemas.microsoft.com/office/drawing/2014/main" id="{B9F2A716-5000-DB6B-03ED-4D00880F9208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4274316513"/>
                  </p:ext>
                </p:extLst>
              </p:nvPr>
            </p:nvGraphicFramePr>
            <p:xfrm>
              <a:off x="696000" y="2943070"/>
              <a:ext cx="11153100" cy="3838624"/>
            </p:xfrm>
            <a:graphic>
              <a:graphicData uri="http://schemas.openxmlformats.org/drawingml/2006/table">
                <a:tbl>
                  <a:tblPr>
                    <a:tableStyleId>{5C22544A-7EE6-4342-B048-85BDC9FD1C3A}</a:tableStyleId>
                  </a:tblPr>
                  <a:tblGrid>
                    <a:gridCol w="1186140">
                      <a:extLst>
                        <a:ext uri="{9D8B030D-6E8A-4147-A177-3AD203B41FA5}">
                          <a16:colId xmlns:a16="http://schemas.microsoft.com/office/drawing/2014/main" val="4220692121"/>
                        </a:ext>
                      </a:extLst>
                    </a:gridCol>
                    <a:gridCol w="4390410">
                      <a:extLst>
                        <a:ext uri="{9D8B030D-6E8A-4147-A177-3AD203B41FA5}">
                          <a16:colId xmlns:a16="http://schemas.microsoft.com/office/drawing/2014/main" val="1806466084"/>
                        </a:ext>
                      </a:extLst>
                    </a:gridCol>
                    <a:gridCol w="3122910">
                      <a:extLst>
                        <a:ext uri="{9D8B030D-6E8A-4147-A177-3AD203B41FA5}">
                          <a16:colId xmlns:a16="http://schemas.microsoft.com/office/drawing/2014/main" val="2680918418"/>
                        </a:ext>
                      </a:extLst>
                    </a:gridCol>
                    <a:gridCol w="2453640">
                      <a:extLst>
                        <a:ext uri="{9D8B030D-6E8A-4147-A177-3AD203B41FA5}">
                          <a16:colId xmlns:a16="http://schemas.microsoft.com/office/drawing/2014/main" val="826689425"/>
                        </a:ext>
                      </a:extLst>
                    </a:gridCol>
                  </a:tblGrid>
                  <a:tr h="276904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zh-CN" sz="1600" b="1"/>
                            <a:t>编号</a:t>
                          </a:r>
                        </a:p>
                      </a:txBody>
                      <a:tcPr marL="33064" marR="33064" marT="16532" marB="16532" anchor="ctr"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zh-CN" sz="1600" b="1"/>
                            <a:t>标题</a:t>
                          </a:r>
                        </a:p>
                      </a:txBody>
                      <a:tcPr marL="33064" marR="33064" marT="16532" marB="16532" anchor="ctr"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zh-CN" sz="1600" b="1"/>
                            <a:t>内容与唯一任务</a:t>
                          </a:r>
                        </a:p>
                      </a:txBody>
                      <a:tcPr marL="33064" marR="33064" marT="16532" marB="16532" anchor="ctr"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zh-CN" sz="1600" b="1"/>
                            <a:t>位置／版式</a:t>
                          </a:r>
                        </a:p>
                      </a:txBody>
                      <a:tcPr marL="33064" marR="33064" marT="16532" marB="16532" anchor="ctr"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499235388"/>
                      </a:ext>
                    </a:extLst>
                  </a:tr>
                  <a:tr h="735910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zh-CN" sz="1600" b="1"/>
                            <a:t>Fig. 1</a:t>
                          </a:r>
                        </a:p>
                      </a:txBody>
                      <a:tcPr marL="33064" marR="33064" marT="16532" marB="16532" anchor="ctr"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zh-CN" sz="1600"/>
                            <a:t>存算分离与存算融合下的操作数路径</a:t>
                          </a:r>
                        </a:p>
                      </a:txBody>
                      <a:tcPr marL="33064" marR="33064" marT="16532" marB="16532" anchor="ctr"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zh-CN" sz="1600"/>
                            <a:t>让读者直观看到：为什么 resident 与 streaming 值得分开计量</a:t>
                          </a:r>
                        </a:p>
                      </a:txBody>
                      <a:tcPr marL="33064" marR="33064" marT="16532" marB="16532" anchor="ctr"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zh-CN" sz="1600"/>
                            <a:t>第 1 页，单栏示意图</a:t>
                          </a:r>
                        </a:p>
                      </a:txBody>
                      <a:tcPr marL="33064" marR="33064" marT="16532" marB="16532" anchor="ctr"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981333852"/>
                      </a:ext>
                    </a:extLst>
                  </a:tr>
                  <a:tr h="565162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zh-CN" sz="1600" b="1"/>
                            <a:t>Fig. 2</a:t>
                          </a:r>
                        </a:p>
                      </a:txBody>
                      <a:tcPr marL="33064" marR="33064" marT="16532" marB="16532" anchor="ctr"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zh-CN" sz="1600"/>
                            <a:t>经典 Roofline 与 resident–streaming Roofline</a:t>
                          </a:r>
                        </a:p>
                      </a:txBody>
                      <a:tcPr marL="33064" marR="33064" marT="16532" marB="16532" anchor="ctr"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zh-CN" sz="1600"/>
                            <a:t>两套曲线并排，加精简对应表，完成模型介绍</a:t>
                          </a:r>
                        </a:p>
                      </a:txBody>
                      <a:tcPr marL="33064" marR="33064" marT="16532" marB="16532" anchor="ctr"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zh-CN" sz="1600"/>
                            <a:t>第 2 页，优先跨双栏</a:t>
                          </a:r>
                        </a:p>
                      </a:txBody>
                      <a:tcPr marL="33064" marR="33064" marT="16532" marB="16532" anchor="ctr"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80243390"/>
                      </a:ext>
                    </a:extLst>
                  </a:tr>
                  <a:tr h="565162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zh-CN" sz="1600" b="1"/>
                            <a:t>Table I</a:t>
                          </a:r>
                        </a:p>
                      </a:txBody>
                      <a:tcPr marL="33064" marR="33064" marT="16532" marB="16532" anchor="ctr"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zh-CN" sz="1600" b="1"/>
                            <a:t>代表性 CIM 实现的流式与驻留更新能力</a:t>
                          </a:r>
                        </a:p>
                      </a:txBody>
                      <a:tcPr marL="33064" marR="33064" marT="16532" marB="16532" anchor="ctr"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 marL="33064" marR="33064" marT="16532" marB="16532" anchor="ctr">
                        <a:blipFill>
                          <a:blip r:embed="rId2"/>
                          <a:stretch>
                            <a:fillRect l="-178906" t="-287097" r="-79102" b="-31397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zh-CN" sz="1600"/>
                            <a:t>第 3 页，允许跨双栏</a:t>
                          </a:r>
                        </a:p>
                      </a:txBody>
                      <a:tcPr marL="33064" marR="33064" marT="16532" marB="16532" anchor="ctr"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535762458"/>
                      </a:ext>
                    </a:extLst>
                  </a:tr>
                  <a:tr h="565162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zh-CN" sz="1600" b="1"/>
                            <a:t>Table II</a:t>
                          </a:r>
                        </a:p>
                      </a:txBody>
                      <a:tcPr marL="33064" marR="33064" marT="16532" marB="16532" anchor="ctr"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zh-CN" sz="1600" b="1"/>
                            <a:t>代表性 workload 的窗口化操作数需求</a:t>
                          </a:r>
                        </a:p>
                      </a:txBody>
                      <a:tcPr marL="33064" marR="33064" marT="16532" marB="16532" anchor="ctr"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 marL="33064" marR="33064" marT="16532" marB="16532" anchor="ctr">
                        <a:blipFill>
                          <a:blip r:embed="rId2"/>
                          <a:stretch>
                            <a:fillRect l="-178906" t="-387097" r="-79102" b="-21397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zh-CN" sz="1600"/>
                            <a:t>第 3 页附近，允许跨双栏</a:t>
                          </a:r>
                        </a:p>
                      </a:txBody>
                      <a:tcPr marL="33064" marR="33064" marT="16532" marB="16532" anchor="ctr"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4149761412"/>
                      </a:ext>
                    </a:extLst>
                  </a:tr>
                  <a:tr h="565162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zh-CN" sz="1600" b="1"/>
                            <a:t>Table III</a:t>
                          </a:r>
                        </a:p>
                      </a:txBody>
                      <a:tcPr marL="33064" marR="33064" marT="16532" marB="16532" anchor="ctr"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zh-CN" sz="1600" b="1"/>
                            <a:t>Workload–CIM 适配关系与瓶颈判定</a:t>
                          </a:r>
                        </a:p>
                      </a:txBody>
                      <a:tcPr marL="33064" marR="33064" marT="16532" marB="16532" anchor="ctr"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zh-CN" sz="1600"/>
                            <a:t>将前两表连接起来，指出适配条件和优先改进方向</a:t>
                          </a:r>
                        </a:p>
                      </a:txBody>
                      <a:tcPr marL="33064" marR="33064" marT="16532" marB="16532" anchor="ctr"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zh-CN" sz="1600"/>
                            <a:t>第 4 页，尽量紧凑</a:t>
                          </a:r>
                        </a:p>
                      </a:txBody>
                      <a:tcPr marL="33064" marR="33064" marT="16532" marB="16532" anchor="ctr"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323790604"/>
                      </a:ext>
                    </a:extLst>
                  </a:tr>
                  <a:tr h="565162"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zh-CN" sz="1600" b="1"/>
                            <a:t>Fig. 3</a:t>
                          </a:r>
                        </a:p>
                      </a:txBody>
                      <a:tcPr marL="33064" marR="33064" marT="16532" marB="16532" anchor="ctr"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zh-CN" sz="1600"/>
                            <a:t>流式能力与驻留更新能力提升的不同收益</a:t>
                          </a:r>
                        </a:p>
                      </a:txBody>
                      <a:tcPr marL="33064" marR="33064" marT="16532" marB="16532" anchor="ctr"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zh-CN" sz="1600"/>
                            <a:t>用简单曲线说明：优化错误通路，可能没有吞吐收益</a:t>
                          </a:r>
                        </a:p>
                      </a:txBody>
                      <a:tcPr marL="33064" marR="33064" marT="16532" marB="16532" anchor="ctr"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>
                            <a:buNone/>
                          </a:pPr>
                          <a:r>
                            <a:rPr lang="zh-CN" sz="1600"/>
                            <a:t>第 4 页，单栏分析图</a:t>
                          </a:r>
                        </a:p>
                      </a:txBody>
                      <a:tcPr marL="33064" marR="33064" marT="16532" marB="16532" anchor="ctr"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3503440758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371089035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6759C6-B6E5-EDBF-79D3-B326468A24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灯片编号占位符 1">
            <a:extLst>
              <a:ext uri="{FF2B5EF4-FFF2-40B4-BE49-F238E27FC236}">
                <a16:creationId xmlns:a16="http://schemas.microsoft.com/office/drawing/2014/main" id="{E3BBF3C3-DCEC-1A79-45E3-C189719855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EC669C-3A94-5645-80F3-ED04B501DFEC}" type="slidenum">
              <a:rPr lang="en-US" altLang="zh-CN" smtClean="0"/>
              <a:pPr/>
              <a:t>4</a:t>
            </a:fld>
            <a:endParaRPr lang="zh-CN" altLang="en-US"/>
          </a:p>
        </p:txBody>
      </p:sp>
      <p:sp>
        <p:nvSpPr>
          <p:cNvPr id="3" name="标题 2">
            <a:extLst>
              <a:ext uri="{FF2B5EF4-FFF2-40B4-BE49-F238E27FC236}">
                <a16:creationId xmlns:a16="http://schemas.microsoft.com/office/drawing/2014/main" id="{072C2C84-18CF-1319-1C48-4DF6B26ACD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工作</a:t>
            </a:r>
          </a:p>
        </p:txBody>
      </p:sp>
      <p:sp>
        <p:nvSpPr>
          <p:cNvPr id="5" name="内容占位符 4">
            <a:extLst>
              <a:ext uri="{FF2B5EF4-FFF2-40B4-BE49-F238E27FC236}">
                <a16:creationId xmlns:a16="http://schemas.microsoft.com/office/drawing/2014/main" id="{CB0EB615-3EBC-5A97-4FF6-6804449B6E42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696000" y="1848440"/>
            <a:ext cx="11421202" cy="3003386"/>
          </a:xfrm>
        </p:spPr>
        <p:txBody>
          <a:bodyPr/>
          <a:lstStyle/>
          <a:p>
            <a:pPr>
              <a:spcAft>
                <a:spcPts val="600"/>
              </a:spcAft>
            </a:pPr>
            <a:r>
              <a:rPr lang="zh-CN" altLang="en-US" sz="1600" b="1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图</a:t>
            </a:r>
            <a:r>
              <a:rPr lang="en-US" altLang="zh-CN" sz="1600" b="1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1 </a:t>
            </a:r>
            <a:r>
              <a:rPr lang="zh-CN" altLang="en-US" sz="1600" b="1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示意图</a:t>
            </a:r>
            <a:endParaRPr lang="en-US" altLang="zh-CN" sz="1600" b="1">
              <a:solidFill>
                <a:schemeClr val="tx1"/>
              </a:solidFill>
              <a:ea typeface="黑体" panose="02010609060101010101" pitchFamily="49" charset="-122"/>
              <a:cs typeface="Arial" panose="020B0604020202020204" pitchFamily="34" charset="0"/>
            </a:endParaRPr>
          </a:p>
          <a:p>
            <a:endParaRPr lang="en-US" altLang="zh-CN" sz="1600"/>
          </a:p>
          <a:p>
            <a:r>
              <a:rPr lang="zh-CN" altLang="zh-CN" sz="1600"/>
              <a:t>GPU 一侧画“存储—计算”两个块，权重和输入通过所选存储接口进入计算模块</a:t>
            </a:r>
          </a:p>
          <a:p>
            <a:r>
              <a:rPr lang="zh-CN" altLang="zh-CN" sz="1600"/>
              <a:t>CIM 一侧画一个存算耦合阵列，突出两条路径：一条将 resident 操作数写入阵列，另一条输入 streaming 操作数并完成求值、读出。resident 旁边标“weights / KV / mapped operands”即可，避免读者把 resident 永久等同于模型权重。</a:t>
            </a:r>
          </a:p>
          <a:p>
            <a:endParaRPr lang="en-US" altLang="zh-CN" sz="1600"/>
          </a:p>
          <a:p>
            <a:r>
              <a:rPr lang="zh-CN" altLang="zh-CN" sz="1600"/>
              <a:t>这张图最重要的视觉信息是：resident 写入一次后，可以支撑多次 streaming 求值。</a:t>
            </a:r>
          </a:p>
          <a:p>
            <a:r>
              <a:rPr lang="zh-CN" altLang="zh-CN" sz="1600"/>
              <a:t>外围模块用“输入／求值／读出”这样的通用标注，不把所有 CIM 都画成 DAC–ADC 架构</a:t>
            </a:r>
            <a:endParaRPr lang="en-US" altLang="zh-CN" sz="1600"/>
          </a:p>
          <a:p>
            <a:endParaRPr lang="en-US" altLang="zh-CN" sz="1600"/>
          </a:p>
          <a:p>
            <a:endParaRPr lang="en-US" altLang="zh-CN" sz="1600"/>
          </a:p>
          <a:p>
            <a:r>
              <a:rPr lang="zh-CN" altLang="en-US" sz="1600" b="1"/>
              <a:t>图</a:t>
            </a:r>
            <a:r>
              <a:rPr lang="en-US" altLang="zh-CN" sz="1600" b="1"/>
              <a:t>2 </a:t>
            </a:r>
            <a:r>
              <a:rPr lang="zh-CN" altLang="en-US" sz="1600" b="1"/>
              <a:t>示意图</a:t>
            </a:r>
            <a:endParaRPr lang="en-US" altLang="zh-CN" sz="1600" b="1"/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934603AE-4E3E-69B1-063B-D0BE15B1EFC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33801" y="1230122"/>
            <a:ext cx="10966163" cy="369332"/>
          </a:xfrm>
        </p:spPr>
        <p:txBody>
          <a:bodyPr/>
          <a:lstStyle/>
          <a:p>
            <a:r>
              <a:rPr lang="zh-CN" altLang="en-US"/>
              <a:t>论文的前半部分理论</a:t>
            </a:r>
          </a:p>
        </p:txBody>
      </p:sp>
      <p:pic>
        <p:nvPicPr>
          <p:cNvPr id="8" name="Picture 2">
            <a:extLst>
              <a:ext uri="{FF2B5EF4-FFF2-40B4-BE49-F238E27FC236}">
                <a16:creationId xmlns:a16="http://schemas.microsoft.com/office/drawing/2014/main" id="{08968525-8DE5-FC5D-B471-A3F2030B11F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762410" y="34303"/>
            <a:ext cx="3263352" cy="241068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" name="图片 9">
            <a:extLst>
              <a:ext uri="{FF2B5EF4-FFF2-40B4-BE49-F238E27FC236}">
                <a16:creationId xmlns:a16="http://schemas.microsoft.com/office/drawing/2014/main" id="{A4A53050-3EF9-4ABB-B957-2370911AA5B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6662" y="4851826"/>
            <a:ext cx="3668161" cy="1940920"/>
          </a:xfrm>
          <a:prstGeom prst="rect">
            <a:avLst/>
          </a:prstGeom>
        </p:spPr>
      </p:pic>
      <p:pic>
        <p:nvPicPr>
          <p:cNvPr id="12" name="图片 11">
            <a:extLst>
              <a:ext uri="{FF2B5EF4-FFF2-40B4-BE49-F238E27FC236}">
                <a16:creationId xmlns:a16="http://schemas.microsoft.com/office/drawing/2014/main" id="{2DC937E6-EDAD-AD7C-D20D-510F3B12330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13914" y="4851826"/>
            <a:ext cx="3683265" cy="1940920"/>
          </a:xfrm>
          <a:prstGeom prst="rect">
            <a:avLst/>
          </a:prstGeom>
        </p:spPr>
      </p:pic>
      <p:pic>
        <p:nvPicPr>
          <p:cNvPr id="14" name="图片 13">
            <a:extLst>
              <a:ext uri="{FF2B5EF4-FFF2-40B4-BE49-F238E27FC236}">
                <a16:creationId xmlns:a16="http://schemas.microsoft.com/office/drawing/2014/main" id="{E66F20D6-9BC6-8936-6C80-ACE8CFAE666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01000" y="4059213"/>
            <a:ext cx="4191000" cy="27335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4677361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484338-E759-9472-8577-1DFA0CB422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图片 6">
            <a:extLst>
              <a:ext uri="{FF2B5EF4-FFF2-40B4-BE49-F238E27FC236}">
                <a16:creationId xmlns:a16="http://schemas.microsoft.com/office/drawing/2014/main" id="{210268BE-5989-99AD-1D7B-1153711C3DF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81736" y="1"/>
            <a:ext cx="4910263" cy="2598148"/>
          </a:xfrm>
          <a:prstGeom prst="rect">
            <a:avLst/>
          </a:prstGeom>
        </p:spPr>
      </p:pic>
      <p:sp>
        <p:nvSpPr>
          <p:cNvPr id="2" name="灯片编号占位符 1">
            <a:extLst>
              <a:ext uri="{FF2B5EF4-FFF2-40B4-BE49-F238E27FC236}">
                <a16:creationId xmlns:a16="http://schemas.microsoft.com/office/drawing/2014/main" id="{42C3DAD8-4136-738D-80E1-AAD413B1B5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EC669C-3A94-5645-80F3-ED04B501DFEC}" type="slidenum">
              <a:rPr lang="en-US" altLang="zh-CN" smtClean="0"/>
              <a:pPr/>
              <a:t>5</a:t>
            </a:fld>
            <a:endParaRPr lang="zh-CN" altLang="en-US"/>
          </a:p>
        </p:txBody>
      </p:sp>
      <p:sp>
        <p:nvSpPr>
          <p:cNvPr id="3" name="标题 2">
            <a:extLst>
              <a:ext uri="{FF2B5EF4-FFF2-40B4-BE49-F238E27FC236}">
                <a16:creationId xmlns:a16="http://schemas.microsoft.com/office/drawing/2014/main" id="{954398CF-044B-CA30-6B04-98BAB850B2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工作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C01823E8-8D90-841F-60E7-1CC6591856C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33801" y="1230122"/>
            <a:ext cx="10966163" cy="369332"/>
          </a:xfrm>
        </p:spPr>
        <p:txBody>
          <a:bodyPr/>
          <a:lstStyle/>
          <a:p>
            <a:r>
              <a:rPr lang="zh-CN" altLang="en-US"/>
              <a:t>论文的前半部分理论</a:t>
            </a:r>
          </a:p>
        </p:txBody>
      </p:sp>
      <p:sp>
        <p:nvSpPr>
          <p:cNvPr id="5" name="内容占位符 4">
            <a:extLst>
              <a:ext uri="{FF2B5EF4-FFF2-40B4-BE49-F238E27FC236}">
                <a16:creationId xmlns:a16="http://schemas.microsoft.com/office/drawing/2014/main" id="{1F6345AE-B9B0-84C6-A891-8F06C1BBFFC2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696000" y="1860189"/>
            <a:ext cx="11496000" cy="2598147"/>
          </a:xfrm>
        </p:spPr>
        <p:txBody>
          <a:bodyPr/>
          <a:lstStyle/>
          <a:p>
            <a:pPr>
              <a:spcAft>
                <a:spcPts val="600"/>
              </a:spcAft>
            </a:pPr>
            <a:r>
              <a:rPr lang="zh-CN" altLang="en-US" sz="1600">
                <a:solidFill>
                  <a:schemeClr val="tx1"/>
                </a:solidFill>
                <a:cs typeface="Arial" panose="020B0604020202020204" pitchFamily="34" charset="0"/>
              </a:rPr>
              <a:t>回顾</a:t>
            </a:r>
            <a:r>
              <a:rPr lang="en-US" altLang="zh-CN" sz="1600">
                <a:solidFill>
                  <a:schemeClr val="tx1"/>
                </a:solidFill>
                <a:cs typeface="Arial" panose="020B0604020202020204" pitchFamily="34" charset="0"/>
              </a:rPr>
              <a:t>GPU</a:t>
            </a:r>
            <a:r>
              <a:rPr lang="zh-CN" altLang="en-US" sz="1600">
                <a:solidFill>
                  <a:schemeClr val="tx1"/>
                </a:solidFill>
                <a:cs typeface="Arial" panose="020B0604020202020204" pitchFamily="34" charset="0"/>
              </a:rPr>
              <a:t>最关键的特点：</a:t>
            </a:r>
            <a:endParaRPr lang="en-US" altLang="zh-CN" sz="1600">
              <a:solidFill>
                <a:schemeClr val="tx1"/>
              </a:solidFill>
              <a:cs typeface="Arial" panose="020B0604020202020204" pitchFamily="34" charset="0"/>
            </a:endParaRPr>
          </a:p>
          <a:p>
            <a:pPr>
              <a:spcAft>
                <a:spcPts val="600"/>
              </a:spcAft>
            </a:pPr>
            <a:r>
              <a:rPr lang="en-US" altLang="zh-CN" sz="1600" b="1">
                <a:solidFill>
                  <a:schemeClr val="tx1"/>
                </a:solidFill>
                <a:cs typeface="Arial" panose="020B0604020202020204" pitchFamily="34" charset="0"/>
              </a:rPr>
              <a:t>1</a:t>
            </a:r>
            <a:r>
              <a:rPr lang="zh-CN" altLang="en-US" sz="1600" b="1">
                <a:solidFill>
                  <a:schemeClr val="tx1"/>
                </a:solidFill>
                <a:cs typeface="Arial" panose="020B0604020202020204" pitchFamily="34" charset="0"/>
              </a:rPr>
              <a:t>）存储，计算硬件分离，存储单元用空间复杂度衡量，计算单元用时间复杂度</a:t>
            </a:r>
            <a:endParaRPr lang="en-US" altLang="zh-CN" sz="1600" b="1">
              <a:solidFill>
                <a:schemeClr val="tx1"/>
              </a:solidFill>
              <a:cs typeface="Arial" panose="020B0604020202020204" pitchFamily="34" charset="0"/>
            </a:endParaRPr>
          </a:p>
          <a:p>
            <a:pPr>
              <a:spcAft>
                <a:spcPts val="600"/>
              </a:spcAft>
            </a:pPr>
            <a:r>
              <a:rPr lang="en-US" altLang="zh-CN" sz="1600">
                <a:solidFill>
                  <a:schemeClr val="tx1"/>
                </a:solidFill>
                <a:cs typeface="Arial" panose="020B0604020202020204" pitchFamily="34" charset="0"/>
              </a:rPr>
              <a:t>	</a:t>
            </a:r>
            <a:r>
              <a:rPr lang="zh-CN" altLang="en-US" sz="1600">
                <a:solidFill>
                  <a:schemeClr val="tx1"/>
                </a:solidFill>
                <a:cs typeface="Arial" panose="020B0604020202020204" pitchFamily="34" charset="0"/>
              </a:rPr>
              <a:t>对应的概念：计算单元的能力，算力</a:t>
            </a:r>
            <a:r>
              <a:rPr lang="en-US" altLang="zh-CN" sz="1600">
                <a:solidFill>
                  <a:schemeClr val="tx1"/>
                </a:solidFill>
                <a:cs typeface="Arial" panose="020B0604020202020204" pitchFamily="34" charset="0"/>
              </a:rPr>
              <a:t>π</a:t>
            </a:r>
            <a:r>
              <a:rPr lang="zh-CN" altLang="en-US" sz="1600">
                <a:solidFill>
                  <a:schemeClr val="tx1"/>
                </a:solidFill>
                <a:cs typeface="Arial" panose="020B0604020202020204" pitchFamily="34" charset="0"/>
              </a:rPr>
              <a:t>；存储单元的能力，带宽</a:t>
            </a:r>
            <a:r>
              <a:rPr lang="en-US" altLang="zh-CN" sz="1600">
                <a:solidFill>
                  <a:schemeClr val="tx1"/>
                </a:solidFill>
                <a:cs typeface="Arial" panose="020B0604020202020204" pitchFamily="34" charset="0"/>
              </a:rPr>
              <a:t>β</a:t>
            </a:r>
          </a:p>
          <a:p>
            <a:pPr>
              <a:spcAft>
                <a:spcPts val="600"/>
              </a:spcAft>
            </a:pPr>
            <a:r>
              <a:rPr lang="en-US" altLang="zh-CN" sz="1600" b="1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2</a:t>
            </a:r>
            <a:r>
              <a:rPr lang="zh-CN" altLang="en-US" sz="1600" b="1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）任务总量：</a:t>
            </a:r>
            <a:r>
              <a:rPr lang="en-US" altLang="zh-CN" sz="1600" b="1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OPs</a:t>
            </a:r>
            <a:r>
              <a:rPr lang="zh-CN" altLang="en-US" sz="1600" b="1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，拆解到时间（</a:t>
            </a:r>
            <a:r>
              <a:rPr lang="en-US" altLang="zh-CN" sz="1600" b="1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y</a:t>
            </a:r>
            <a:r>
              <a:rPr lang="zh-CN" altLang="en-US" sz="1600" b="1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轴，算力性能）和空间（</a:t>
            </a:r>
            <a:r>
              <a:rPr lang="en-US" altLang="zh-CN" sz="1600" b="1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x</a:t>
            </a:r>
            <a:r>
              <a:rPr lang="zh-CN" altLang="en-US" sz="1600" b="1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轴，算术强度）</a:t>
            </a:r>
            <a:endParaRPr lang="en-US" altLang="zh-CN" sz="1600" b="1">
              <a:solidFill>
                <a:schemeClr val="tx1"/>
              </a:solidFill>
              <a:ea typeface="黑体" panose="02010609060101010101" pitchFamily="49" charset="-122"/>
              <a:cs typeface="Arial" panose="020B0604020202020204" pitchFamily="34" charset="0"/>
            </a:endParaRPr>
          </a:p>
          <a:p>
            <a:pPr>
              <a:spcAft>
                <a:spcPts val="600"/>
              </a:spcAft>
            </a:pPr>
            <a:r>
              <a:rPr lang="en-US" altLang="zh-CN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	</a:t>
            </a:r>
            <a:r>
              <a:rPr lang="zh-CN" altLang="en-US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对应的概念：完成一次任务的计算操作总次数 </a:t>
            </a:r>
            <a:r>
              <a:rPr lang="en-US" altLang="zh-CN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OP</a:t>
            </a:r>
            <a:r>
              <a:rPr lang="zh-CN" altLang="en-US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，完成一次任务的数据搬运总量 </a:t>
            </a:r>
            <a:r>
              <a:rPr lang="en-US" altLang="zh-CN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Byte</a:t>
            </a:r>
          </a:p>
          <a:p>
            <a:pPr>
              <a:spcAft>
                <a:spcPts val="600"/>
              </a:spcAft>
            </a:pPr>
            <a:r>
              <a:rPr lang="en-US" altLang="zh-CN" sz="1600" b="1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3</a:t>
            </a:r>
            <a:r>
              <a:rPr lang="zh-CN" altLang="en-US" sz="1600" b="1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）不区分数据的特点，都会进行同样的搬运、计算操作</a:t>
            </a:r>
            <a:endParaRPr lang="en-US" altLang="zh-CN" sz="1600" b="1">
              <a:solidFill>
                <a:schemeClr val="tx1"/>
              </a:solidFill>
              <a:ea typeface="黑体" panose="02010609060101010101" pitchFamily="49" charset="-122"/>
              <a:cs typeface="Arial" panose="020B0604020202020204" pitchFamily="34" charset="0"/>
            </a:endParaRPr>
          </a:p>
          <a:p>
            <a:pPr>
              <a:spcAft>
                <a:spcPts val="600"/>
              </a:spcAft>
            </a:pPr>
            <a:endParaRPr lang="en-US" altLang="zh-CN" sz="1600">
              <a:solidFill>
                <a:schemeClr val="tx1"/>
              </a:solidFill>
              <a:ea typeface="黑体" panose="02010609060101010101" pitchFamily="49" charset="-122"/>
              <a:cs typeface="Arial" panose="020B0604020202020204" pitchFamily="34" charset="0"/>
            </a:endParaRPr>
          </a:p>
          <a:p>
            <a:pPr>
              <a:spcAft>
                <a:spcPts val="600"/>
              </a:spcAft>
            </a:pPr>
            <a:r>
              <a:rPr lang="zh-CN" altLang="en-US" sz="1600" b="1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换句话说：硬件的类型不同（不同操作），而数据的类型相同（都认为是普通的</a:t>
            </a:r>
            <a:r>
              <a:rPr lang="en-US" altLang="zh-CN" sz="1600" b="1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data</a:t>
            </a:r>
            <a:r>
              <a:rPr lang="zh-CN" altLang="en-US" sz="1600" b="1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从</a:t>
            </a:r>
            <a:r>
              <a:rPr lang="en-US" altLang="zh-CN" sz="1600" b="1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HBM</a:t>
            </a:r>
            <a:r>
              <a:rPr lang="zh-CN" altLang="en-US" sz="1600" b="1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逐级往上搬运）</a:t>
            </a:r>
            <a:endParaRPr lang="en-US" altLang="zh-CN" sz="1600" b="1">
              <a:solidFill>
                <a:schemeClr val="tx1"/>
              </a:solidFill>
              <a:ea typeface="黑体" panose="02010609060101010101" pitchFamily="49" charset="-122"/>
              <a:cs typeface="Arial" panose="020B0604020202020204" pitchFamily="34" charset="0"/>
            </a:endParaRPr>
          </a:p>
        </p:txBody>
      </p:sp>
      <p:pic>
        <p:nvPicPr>
          <p:cNvPr id="6" name="图片 5">
            <a:extLst>
              <a:ext uri="{FF2B5EF4-FFF2-40B4-BE49-F238E27FC236}">
                <a16:creationId xmlns:a16="http://schemas.microsoft.com/office/drawing/2014/main" id="{14F2DC64-3662-BF4A-0700-D224BDAD012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0000" y="4802544"/>
            <a:ext cx="7772400" cy="1845171"/>
          </a:xfrm>
          <a:prstGeom prst="rect">
            <a:avLst/>
          </a:prstGeom>
        </p:spPr>
      </p:pic>
      <p:pic>
        <p:nvPicPr>
          <p:cNvPr id="9" name="图片 8">
            <a:extLst>
              <a:ext uri="{FF2B5EF4-FFF2-40B4-BE49-F238E27FC236}">
                <a16:creationId xmlns:a16="http://schemas.microsoft.com/office/drawing/2014/main" id="{D8506B67-6BBC-46A3-4B8F-005313FBC34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13452" y="843082"/>
            <a:ext cx="3606860" cy="1143412"/>
          </a:xfrm>
          <a:prstGeom prst="rect">
            <a:avLst/>
          </a:prstGeom>
        </p:spPr>
      </p:pic>
      <p:pic>
        <p:nvPicPr>
          <p:cNvPr id="10" name="图片 9">
            <a:extLst>
              <a:ext uri="{FF2B5EF4-FFF2-40B4-BE49-F238E27FC236}">
                <a16:creationId xmlns:a16="http://schemas.microsoft.com/office/drawing/2014/main" id="{7676829E-D0D0-E316-0EF1-889A27EFA97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25992" y="4802544"/>
            <a:ext cx="3586008" cy="12579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5548373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74A72E-48A6-7636-A9B5-3A2E7FF76F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灯片编号占位符 1">
            <a:extLst>
              <a:ext uri="{FF2B5EF4-FFF2-40B4-BE49-F238E27FC236}">
                <a16:creationId xmlns:a16="http://schemas.microsoft.com/office/drawing/2014/main" id="{A2F87D6F-AE15-73AF-ABD3-D48E6E892C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EC669C-3A94-5645-80F3-ED04B501DFEC}" type="slidenum">
              <a:rPr lang="en-US" altLang="zh-CN" smtClean="0"/>
              <a:pPr/>
              <a:t>6</a:t>
            </a:fld>
            <a:endParaRPr lang="zh-CN" altLang="en-US"/>
          </a:p>
        </p:txBody>
      </p:sp>
      <p:sp>
        <p:nvSpPr>
          <p:cNvPr id="3" name="标题 2">
            <a:extLst>
              <a:ext uri="{FF2B5EF4-FFF2-40B4-BE49-F238E27FC236}">
                <a16:creationId xmlns:a16="http://schemas.microsoft.com/office/drawing/2014/main" id="{5A95E173-2666-C14A-B386-A407E623A1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工作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6AEDCBDE-96DE-1696-B36B-5741F4E8F3B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33801" y="1230122"/>
            <a:ext cx="10966163" cy="369332"/>
          </a:xfrm>
        </p:spPr>
        <p:txBody>
          <a:bodyPr/>
          <a:lstStyle/>
          <a:p>
            <a:r>
              <a:rPr lang="zh-CN" altLang="en-US"/>
              <a:t>论文的前半部分理论</a:t>
            </a:r>
          </a:p>
        </p:txBody>
      </p:sp>
      <p:sp>
        <p:nvSpPr>
          <p:cNvPr id="5" name="内容占位符 4">
            <a:extLst>
              <a:ext uri="{FF2B5EF4-FFF2-40B4-BE49-F238E27FC236}">
                <a16:creationId xmlns:a16="http://schemas.microsoft.com/office/drawing/2014/main" id="{BDC85A09-42E4-2C9E-C951-B93231FA0878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696000" y="1860189"/>
            <a:ext cx="11496000" cy="1926168"/>
          </a:xfrm>
        </p:spPr>
        <p:txBody>
          <a:bodyPr/>
          <a:lstStyle/>
          <a:p>
            <a:pPr>
              <a:spcAft>
                <a:spcPts val="600"/>
              </a:spcAft>
            </a:pPr>
            <a:r>
              <a:rPr lang="zh-CN" altLang="en-US" sz="1600" b="1">
                <a:solidFill>
                  <a:schemeClr val="tx1"/>
                </a:solidFill>
                <a:cs typeface="Arial" panose="020B0604020202020204" pitchFamily="34" charset="0"/>
              </a:rPr>
              <a:t>硬件平台的关键指标：</a:t>
            </a:r>
            <a:endParaRPr lang="en-US" altLang="zh-CN" sz="1600" b="1">
              <a:solidFill>
                <a:schemeClr val="tx1"/>
              </a:solidFill>
              <a:cs typeface="Arial" panose="020B0604020202020204" pitchFamily="34" charset="0"/>
            </a:endParaRPr>
          </a:p>
          <a:p>
            <a:pPr>
              <a:spcAft>
                <a:spcPts val="600"/>
              </a:spcAft>
            </a:pPr>
            <a:r>
              <a:rPr lang="en-US" altLang="zh-CN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Streaming</a:t>
            </a:r>
            <a:r>
              <a:rPr lang="zh-CN" altLang="en-US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吞吐 </a:t>
            </a:r>
            <a:r>
              <a:rPr lang="en-US" altLang="zh-CN" sz="1600" err="1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ρ</a:t>
            </a:r>
            <a:r>
              <a:rPr lang="zh-CN" altLang="en-US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：一个已被编程好的</a:t>
            </a:r>
            <a:r>
              <a:rPr lang="en-US" altLang="zh-CN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CIM</a:t>
            </a:r>
            <a:r>
              <a:rPr lang="zh-CN" altLang="en-US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阵列在单位时间内能吞吐多少</a:t>
            </a:r>
            <a:r>
              <a:rPr lang="en-US" altLang="zh-CN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streaming</a:t>
            </a:r>
            <a:r>
              <a:rPr lang="zh-CN" altLang="en-US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操作数</a:t>
            </a:r>
            <a:endParaRPr lang="en-US" altLang="zh-CN" sz="1600">
              <a:solidFill>
                <a:schemeClr val="tx1"/>
              </a:solidFill>
              <a:ea typeface="黑体" panose="02010609060101010101" pitchFamily="49" charset="-122"/>
              <a:cs typeface="Arial" panose="020B0604020202020204" pitchFamily="34" charset="0"/>
            </a:endParaRPr>
          </a:p>
          <a:p>
            <a:pPr>
              <a:spcAft>
                <a:spcPts val="600"/>
              </a:spcAft>
            </a:pPr>
            <a:r>
              <a:rPr lang="en-US" altLang="zh-CN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Resident</a:t>
            </a:r>
            <a:r>
              <a:rPr lang="zh-CN" altLang="en-US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吞吐 </a:t>
            </a:r>
            <a:r>
              <a:rPr lang="en-US" altLang="zh-CN" sz="1600" err="1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τ</a:t>
            </a:r>
            <a:r>
              <a:rPr lang="zh-CN" altLang="en-US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：</a:t>
            </a:r>
            <a:r>
              <a:rPr lang="en-US" altLang="zh-CN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CIM</a:t>
            </a:r>
            <a:r>
              <a:rPr lang="zh-CN" altLang="en-US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每秒能把多少新的权重数据更新到阵列的可计算状态中去</a:t>
            </a:r>
            <a:endParaRPr lang="en-US" altLang="zh-CN" sz="1600">
              <a:solidFill>
                <a:schemeClr val="tx1"/>
              </a:solidFill>
              <a:ea typeface="黑体" panose="02010609060101010101" pitchFamily="49" charset="-122"/>
              <a:cs typeface="Arial" panose="020B0604020202020204" pitchFamily="34" charset="0"/>
            </a:endParaRPr>
          </a:p>
          <a:p>
            <a:pPr>
              <a:spcAft>
                <a:spcPts val="600"/>
              </a:spcAft>
            </a:pPr>
            <a:r>
              <a:rPr lang="zh-CN" altLang="en-US" sz="1600" b="1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两个指标单位相同（</a:t>
            </a:r>
            <a:r>
              <a:rPr lang="en-US" altLang="zh-CN" sz="1600" b="1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Byte/s</a:t>
            </a:r>
            <a:r>
              <a:rPr lang="zh-CN" altLang="en-US" sz="1600" b="1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）</a:t>
            </a:r>
            <a:endParaRPr lang="en-US" altLang="zh-CN" sz="1600" b="1">
              <a:solidFill>
                <a:schemeClr val="tx1"/>
              </a:solidFill>
              <a:ea typeface="黑体" panose="02010609060101010101" pitchFamily="49" charset="-122"/>
              <a:cs typeface="Arial" panose="020B0604020202020204" pitchFamily="34" charset="0"/>
            </a:endParaRPr>
          </a:p>
          <a:p>
            <a:pPr>
              <a:spcAft>
                <a:spcPts val="600"/>
              </a:spcAft>
            </a:pPr>
            <a:r>
              <a:rPr lang="zh-CN" altLang="en-US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经典</a:t>
            </a:r>
            <a:r>
              <a:rPr lang="en-US" altLang="zh-CN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Roofline</a:t>
            </a:r>
            <a:r>
              <a:rPr lang="zh-CN" altLang="en-US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中</a:t>
            </a:r>
            <a:r>
              <a:rPr lang="el-GR" altLang="zh-CN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π</a:t>
            </a:r>
            <a:r>
              <a:rPr lang="zh-CN" altLang="en-US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与</a:t>
            </a:r>
            <a:r>
              <a:rPr lang="el-GR" altLang="zh-CN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β</a:t>
            </a:r>
            <a:r>
              <a:rPr lang="zh-CN" altLang="en-US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不同量纲，是因为</a:t>
            </a:r>
            <a:r>
              <a:rPr lang="en-US" altLang="zh-CN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GPU</a:t>
            </a:r>
            <a:r>
              <a:rPr lang="zh-CN" altLang="en-US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的两类硬件管辖时间与空间两个正交维度；</a:t>
            </a:r>
            <a:endParaRPr lang="en-US" altLang="zh-CN" sz="1600">
              <a:solidFill>
                <a:schemeClr val="tx1"/>
              </a:solidFill>
              <a:ea typeface="黑体" panose="02010609060101010101" pitchFamily="49" charset="-122"/>
              <a:cs typeface="Arial" panose="020B0604020202020204" pitchFamily="34" charset="0"/>
            </a:endParaRPr>
          </a:p>
          <a:p>
            <a:pPr>
              <a:spcAft>
                <a:spcPts val="600"/>
              </a:spcAft>
            </a:pPr>
            <a:r>
              <a:rPr lang="zh-CN" altLang="en-US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而</a:t>
            </a:r>
            <a:r>
              <a:rPr lang="en-US" altLang="zh-CN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CIM</a:t>
            </a:r>
            <a:r>
              <a:rPr lang="zh-CN" altLang="en-US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的两类通路都在关心数据通过通路的速率这一同一物理类别，所以量纲一致</a:t>
            </a:r>
            <a:endParaRPr lang="en-US" altLang="zh-CN" sz="1600">
              <a:solidFill>
                <a:schemeClr val="tx1"/>
              </a:solidFill>
              <a:ea typeface="黑体" panose="02010609060101010101" pitchFamily="49" charset="-122"/>
              <a:cs typeface="Arial" panose="020B0604020202020204" pitchFamily="34" charset="0"/>
            </a:endParaRPr>
          </a:p>
        </p:txBody>
      </p:sp>
      <p:pic>
        <p:nvPicPr>
          <p:cNvPr id="8" name="图片 7">
            <a:extLst>
              <a:ext uri="{FF2B5EF4-FFF2-40B4-BE49-F238E27FC236}">
                <a16:creationId xmlns:a16="http://schemas.microsoft.com/office/drawing/2014/main" id="{FCAF6A95-80F8-A9B0-68E6-86782C69C87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7439" y="200698"/>
            <a:ext cx="6704561" cy="1756118"/>
          </a:xfrm>
          <a:prstGeom prst="rect">
            <a:avLst/>
          </a:prstGeom>
        </p:spPr>
      </p:pic>
      <p:pic>
        <p:nvPicPr>
          <p:cNvPr id="10" name="Picture 2">
            <a:extLst>
              <a:ext uri="{FF2B5EF4-FFF2-40B4-BE49-F238E27FC236}">
                <a16:creationId xmlns:a16="http://schemas.microsoft.com/office/drawing/2014/main" id="{139750E7-706D-B0AF-9F8E-A95E791C441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263500" y="2050761"/>
            <a:ext cx="2397092" cy="177076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3" name="图片 12">
            <a:extLst>
              <a:ext uri="{FF2B5EF4-FFF2-40B4-BE49-F238E27FC236}">
                <a16:creationId xmlns:a16="http://schemas.microsoft.com/office/drawing/2014/main" id="{BD1746C5-98AC-B9D7-E0A3-E2DA06E86D8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4073911"/>
            <a:ext cx="6042089" cy="2119568"/>
          </a:xfrm>
          <a:prstGeom prst="rect">
            <a:avLst/>
          </a:prstGeom>
        </p:spPr>
      </p:pic>
      <p:pic>
        <p:nvPicPr>
          <p:cNvPr id="14" name="图片 13">
            <a:extLst>
              <a:ext uri="{FF2B5EF4-FFF2-40B4-BE49-F238E27FC236}">
                <a16:creationId xmlns:a16="http://schemas.microsoft.com/office/drawing/2014/main" id="{A491A61B-B4B1-E663-3ABF-F211ABA3393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32576" y="4165964"/>
            <a:ext cx="6059424" cy="20227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8505500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21C411-C1CA-060F-C068-749D429CDE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灯片编号占位符 1">
            <a:extLst>
              <a:ext uri="{FF2B5EF4-FFF2-40B4-BE49-F238E27FC236}">
                <a16:creationId xmlns:a16="http://schemas.microsoft.com/office/drawing/2014/main" id="{1E12A59E-8AB5-4788-210C-24C5D76AE7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EC669C-3A94-5645-80F3-ED04B501DFEC}" type="slidenum">
              <a:rPr lang="en-US" altLang="zh-CN" smtClean="0"/>
              <a:pPr/>
              <a:t>7</a:t>
            </a:fld>
            <a:endParaRPr lang="zh-CN" altLang="en-US"/>
          </a:p>
        </p:txBody>
      </p:sp>
      <p:sp>
        <p:nvSpPr>
          <p:cNvPr id="3" name="标题 2">
            <a:extLst>
              <a:ext uri="{FF2B5EF4-FFF2-40B4-BE49-F238E27FC236}">
                <a16:creationId xmlns:a16="http://schemas.microsoft.com/office/drawing/2014/main" id="{F9313387-7B5F-DF4A-B532-C1A9CF9834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工作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CB1C1BDE-821C-7D29-A76C-08BDB312F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33801" y="1230122"/>
            <a:ext cx="10966163" cy="369332"/>
          </a:xfrm>
        </p:spPr>
        <p:txBody>
          <a:bodyPr/>
          <a:lstStyle/>
          <a:p>
            <a:r>
              <a:rPr lang="zh-CN" altLang="en-US"/>
              <a:t>论文的前半部分理论</a:t>
            </a:r>
          </a:p>
        </p:txBody>
      </p:sp>
      <p:sp>
        <p:nvSpPr>
          <p:cNvPr id="5" name="内容占位符 4">
            <a:extLst>
              <a:ext uri="{FF2B5EF4-FFF2-40B4-BE49-F238E27FC236}">
                <a16:creationId xmlns:a16="http://schemas.microsoft.com/office/drawing/2014/main" id="{5D5934A0-5095-F0F7-CED1-B3BC2B90B4DE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696000" y="1860189"/>
            <a:ext cx="11496000" cy="1254189"/>
          </a:xfrm>
        </p:spPr>
        <p:txBody>
          <a:bodyPr/>
          <a:lstStyle/>
          <a:p>
            <a:pPr>
              <a:spcAft>
                <a:spcPts val="600"/>
              </a:spcAft>
            </a:pPr>
            <a:r>
              <a:rPr lang="en-US" altLang="zh-CN" sz="1600">
                <a:solidFill>
                  <a:schemeClr val="tx1"/>
                </a:solidFill>
                <a:cs typeface="Arial" panose="020B0604020202020204" pitchFamily="34" charset="0"/>
              </a:rPr>
              <a:t>GPU</a:t>
            </a:r>
            <a:r>
              <a:rPr lang="zh-CN" altLang="en-US" sz="1600">
                <a:solidFill>
                  <a:schemeClr val="tx1"/>
                </a:solidFill>
                <a:cs typeface="Arial" panose="020B0604020202020204" pitchFamily="34" charset="0"/>
              </a:rPr>
              <a:t>下的网络参数：计算量</a:t>
            </a:r>
            <a:r>
              <a:rPr lang="en-US" altLang="zh-CN" sz="1600">
                <a:solidFill>
                  <a:schemeClr val="tx1"/>
                </a:solidFill>
                <a:cs typeface="Arial" panose="020B0604020202020204" pitchFamily="34" charset="0"/>
              </a:rPr>
              <a:t>+</a:t>
            </a:r>
            <a:r>
              <a:rPr lang="zh-CN" altLang="en-US" sz="1600">
                <a:solidFill>
                  <a:schemeClr val="tx1"/>
                </a:solidFill>
                <a:cs typeface="Arial" panose="020B0604020202020204" pitchFamily="34" charset="0"/>
              </a:rPr>
              <a:t>访存量，也就是一次完整的推理过程中，按照操作类型分，所有的数据经历不同的操作的总数</a:t>
            </a:r>
            <a:endParaRPr lang="en-US" altLang="zh-CN" sz="1600">
              <a:solidFill>
                <a:schemeClr val="tx1"/>
              </a:solidFill>
              <a:cs typeface="Arial" panose="020B0604020202020204" pitchFamily="34" charset="0"/>
            </a:endParaRPr>
          </a:p>
          <a:p>
            <a:pPr>
              <a:spcAft>
                <a:spcPts val="600"/>
              </a:spcAft>
            </a:pPr>
            <a:r>
              <a:rPr lang="en-US" altLang="zh-CN" sz="1600">
                <a:solidFill>
                  <a:schemeClr val="tx1"/>
                </a:solidFill>
                <a:cs typeface="Arial" panose="020B0604020202020204" pitchFamily="34" charset="0"/>
              </a:rPr>
              <a:t>CIM</a:t>
            </a:r>
            <a:r>
              <a:rPr lang="zh-CN" altLang="en-US" sz="1600">
                <a:solidFill>
                  <a:schemeClr val="tx1"/>
                </a:solidFill>
                <a:cs typeface="Arial" panose="020B0604020202020204" pitchFamily="34" charset="0"/>
              </a:rPr>
              <a:t>下的网络参数：流动数据量</a:t>
            </a:r>
            <a:r>
              <a:rPr lang="en-US" altLang="zh-CN" sz="1600">
                <a:solidFill>
                  <a:schemeClr val="tx1"/>
                </a:solidFill>
                <a:cs typeface="Arial" panose="020B0604020202020204" pitchFamily="34" charset="0"/>
              </a:rPr>
              <a:t>+</a:t>
            </a:r>
            <a:r>
              <a:rPr lang="zh-CN" altLang="en-US" sz="1600">
                <a:solidFill>
                  <a:schemeClr val="tx1"/>
                </a:solidFill>
                <a:cs typeface="Arial" panose="020B0604020202020204" pitchFamily="34" charset="0"/>
              </a:rPr>
              <a:t>驻留数据量，一次推理中，按数据类型分，输入的激活完整流过静态的权重网络，所有数据总量</a:t>
            </a:r>
            <a:endParaRPr lang="en-US" altLang="zh-CN" sz="1600">
              <a:solidFill>
                <a:schemeClr val="tx1"/>
              </a:solidFill>
              <a:cs typeface="Arial" panose="020B0604020202020204" pitchFamily="34" charset="0"/>
            </a:endParaRPr>
          </a:p>
          <a:p>
            <a:pPr>
              <a:spcAft>
                <a:spcPts val="600"/>
              </a:spcAft>
            </a:pPr>
            <a:r>
              <a:rPr lang="en-US" altLang="zh-CN" sz="1600" b="1">
                <a:solidFill>
                  <a:schemeClr val="tx1"/>
                </a:solidFill>
                <a:cs typeface="Arial" panose="020B0604020202020204" pitchFamily="34" charset="0"/>
              </a:rPr>
              <a:t>GPU</a:t>
            </a:r>
            <a:r>
              <a:rPr lang="zh-CN" altLang="en-US" sz="1600" b="1">
                <a:solidFill>
                  <a:schemeClr val="tx1"/>
                </a:solidFill>
                <a:cs typeface="Arial" panose="020B0604020202020204" pitchFamily="34" charset="0"/>
              </a:rPr>
              <a:t>的算术强度：计算单元的指标</a:t>
            </a:r>
            <a:r>
              <a:rPr lang="en-US" altLang="zh-CN" sz="1600" b="1">
                <a:solidFill>
                  <a:schemeClr val="tx1"/>
                </a:solidFill>
                <a:cs typeface="Arial" panose="020B0604020202020204" pitchFamily="34" charset="0"/>
              </a:rPr>
              <a:t>/</a:t>
            </a:r>
            <a:r>
              <a:rPr lang="zh-CN" altLang="en-US" sz="1600" b="1">
                <a:solidFill>
                  <a:schemeClr val="tx1"/>
                </a:solidFill>
                <a:cs typeface="Arial" panose="020B0604020202020204" pitchFamily="34" charset="0"/>
              </a:rPr>
              <a:t>存储单元的指标，</a:t>
            </a:r>
            <a:r>
              <a:rPr lang="en-US" altLang="zh-CN" sz="1600" b="1">
                <a:solidFill>
                  <a:schemeClr val="tx1"/>
                </a:solidFill>
                <a:cs typeface="Arial" panose="020B0604020202020204" pitchFamily="34" charset="0"/>
              </a:rPr>
              <a:t>OP/Byte</a:t>
            </a:r>
            <a:r>
              <a:rPr lang="zh-CN" altLang="en-US" sz="1600" b="1">
                <a:solidFill>
                  <a:schemeClr val="tx1"/>
                </a:solidFill>
                <a:cs typeface="Arial" panose="020B0604020202020204" pitchFamily="34" charset="0"/>
              </a:rPr>
              <a:t>，算术强度，</a:t>
            </a:r>
            <a:r>
              <a:rPr lang="en-US" altLang="zh-CN" sz="1600" b="1">
                <a:solidFill>
                  <a:schemeClr val="tx1"/>
                </a:solidFill>
                <a:cs typeface="Arial" panose="020B0604020202020204" pitchFamily="34" charset="0"/>
              </a:rPr>
              <a:t>Arithmetic</a:t>
            </a:r>
            <a:r>
              <a:rPr lang="zh-CN" altLang="en-US" sz="1600" b="1">
                <a:solidFill>
                  <a:schemeClr val="tx1"/>
                </a:solidFill>
                <a:cs typeface="Arial" panose="020B0604020202020204" pitchFamily="34" charset="0"/>
              </a:rPr>
              <a:t> </a:t>
            </a:r>
            <a:r>
              <a:rPr lang="en-US" altLang="zh-CN" sz="1600" b="1">
                <a:solidFill>
                  <a:schemeClr val="tx1"/>
                </a:solidFill>
                <a:cs typeface="Arial" panose="020B0604020202020204" pitchFamily="34" charset="0"/>
              </a:rPr>
              <a:t>Intensity</a:t>
            </a:r>
            <a:r>
              <a:rPr lang="zh-CN" altLang="en-US" sz="1600" b="1">
                <a:solidFill>
                  <a:schemeClr val="tx1"/>
                </a:solidFill>
                <a:cs typeface="Arial" panose="020B0604020202020204" pitchFamily="34" charset="0"/>
              </a:rPr>
              <a:t>，</a:t>
            </a:r>
            <a:r>
              <a:rPr lang="en-US" altLang="zh-CN" sz="1600" b="1">
                <a:solidFill>
                  <a:schemeClr val="tx1"/>
                </a:solidFill>
                <a:cs typeface="Arial" panose="020B0604020202020204" pitchFamily="34" charset="0"/>
              </a:rPr>
              <a:t>AI</a:t>
            </a:r>
          </a:p>
          <a:p>
            <a:pPr>
              <a:spcAft>
                <a:spcPts val="600"/>
              </a:spcAft>
            </a:pPr>
            <a:r>
              <a:rPr lang="en-US" altLang="zh-CN" sz="1600" b="1">
                <a:solidFill>
                  <a:schemeClr val="tx1"/>
                </a:solidFill>
                <a:cs typeface="Arial" panose="020B0604020202020204" pitchFamily="34" charset="0"/>
              </a:rPr>
              <a:t>CIM</a:t>
            </a:r>
            <a:r>
              <a:rPr lang="zh-CN" altLang="en-US" sz="1600" b="1">
                <a:solidFill>
                  <a:schemeClr val="tx1"/>
                </a:solidFill>
                <a:cs typeface="Arial" panose="020B0604020202020204" pitchFamily="34" charset="0"/>
              </a:rPr>
              <a:t>的驻留强度：流动指标</a:t>
            </a:r>
            <a:r>
              <a:rPr lang="en-US" altLang="zh-CN" sz="1600" b="1">
                <a:solidFill>
                  <a:schemeClr val="tx1"/>
                </a:solidFill>
                <a:cs typeface="Arial" panose="020B0604020202020204" pitchFamily="34" charset="0"/>
              </a:rPr>
              <a:t>/</a:t>
            </a:r>
            <a:r>
              <a:rPr lang="zh-CN" altLang="en-US" sz="1600" b="1">
                <a:solidFill>
                  <a:schemeClr val="tx1"/>
                </a:solidFill>
                <a:cs typeface="Arial" panose="020B0604020202020204" pitchFamily="34" charset="0"/>
              </a:rPr>
              <a:t>驻留指标，</a:t>
            </a:r>
            <a:r>
              <a:rPr lang="en-US" altLang="zh-CN" sz="1600" b="1">
                <a:solidFill>
                  <a:schemeClr val="tx1"/>
                </a:solidFill>
                <a:cs typeface="Arial" panose="020B0604020202020204" pitchFamily="34" charset="0"/>
              </a:rPr>
              <a:t>Byte/Byte</a:t>
            </a:r>
            <a:r>
              <a:rPr lang="zh-CN" altLang="en-US" sz="1600" b="1">
                <a:solidFill>
                  <a:schemeClr val="tx1"/>
                </a:solidFill>
                <a:cs typeface="Arial" panose="020B0604020202020204" pitchFamily="34" charset="0"/>
              </a:rPr>
              <a:t>，驻留强度，</a:t>
            </a:r>
            <a:r>
              <a:rPr lang="en-US" altLang="zh-CN" sz="1600" b="1">
                <a:solidFill>
                  <a:schemeClr val="tx1"/>
                </a:solidFill>
                <a:cs typeface="Arial" panose="020B0604020202020204" pitchFamily="34" charset="0"/>
              </a:rPr>
              <a:t>Resident</a:t>
            </a:r>
            <a:r>
              <a:rPr lang="zh-CN" altLang="en-US" sz="1600" b="1">
                <a:solidFill>
                  <a:schemeClr val="tx1"/>
                </a:solidFill>
                <a:cs typeface="Arial" panose="020B0604020202020204" pitchFamily="34" charset="0"/>
              </a:rPr>
              <a:t> </a:t>
            </a:r>
            <a:r>
              <a:rPr lang="en-US" altLang="zh-CN" sz="1600" b="1">
                <a:solidFill>
                  <a:schemeClr val="tx1"/>
                </a:solidFill>
                <a:cs typeface="Arial" panose="020B0604020202020204" pitchFamily="34" charset="0"/>
              </a:rPr>
              <a:t>Intensity</a:t>
            </a:r>
            <a:r>
              <a:rPr lang="zh-CN" altLang="en-US" sz="1600" b="1">
                <a:solidFill>
                  <a:schemeClr val="tx1"/>
                </a:solidFill>
                <a:cs typeface="Arial" panose="020B0604020202020204" pitchFamily="34" charset="0"/>
              </a:rPr>
              <a:t>，</a:t>
            </a:r>
            <a:r>
              <a:rPr lang="en-US" altLang="zh-CN" sz="1600" b="1">
                <a:solidFill>
                  <a:schemeClr val="tx1"/>
                </a:solidFill>
                <a:cs typeface="Arial" panose="020B0604020202020204" pitchFamily="34" charset="0"/>
              </a:rPr>
              <a:t>RI</a:t>
            </a:r>
            <a:endParaRPr lang="en-US" altLang="zh-CN" sz="1600">
              <a:solidFill>
                <a:schemeClr val="tx1"/>
              </a:solidFill>
              <a:ea typeface="黑体" panose="02010609060101010101" pitchFamily="49" charset="-122"/>
              <a:cs typeface="Arial" panose="020B0604020202020204" pitchFamily="34" charset="0"/>
            </a:endParaRPr>
          </a:p>
        </p:txBody>
      </p:sp>
      <p:pic>
        <p:nvPicPr>
          <p:cNvPr id="12" name="图片 11">
            <a:extLst>
              <a:ext uri="{FF2B5EF4-FFF2-40B4-BE49-F238E27FC236}">
                <a16:creationId xmlns:a16="http://schemas.microsoft.com/office/drawing/2014/main" id="{63DCC8EA-88BC-08E7-A296-2B0A3AD8981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250509"/>
            <a:ext cx="5934456" cy="3225058"/>
          </a:xfrm>
          <a:prstGeom prst="rect">
            <a:avLst/>
          </a:prstGeom>
        </p:spPr>
      </p:pic>
      <p:pic>
        <p:nvPicPr>
          <p:cNvPr id="13" name="图片 12">
            <a:extLst>
              <a:ext uri="{FF2B5EF4-FFF2-40B4-BE49-F238E27FC236}">
                <a16:creationId xmlns:a16="http://schemas.microsoft.com/office/drawing/2014/main" id="{AD2D155E-E709-DD65-24C3-B90AB5C91F6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5999" y="3250509"/>
            <a:ext cx="6081795" cy="32250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3228698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51160F-F855-4134-CB81-7E2F73910C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灯片编号占位符 1">
            <a:extLst>
              <a:ext uri="{FF2B5EF4-FFF2-40B4-BE49-F238E27FC236}">
                <a16:creationId xmlns:a16="http://schemas.microsoft.com/office/drawing/2014/main" id="{EDC5F717-456E-A02E-0200-A36EE0D0D2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EC669C-3A94-5645-80F3-ED04B501DFEC}" type="slidenum">
              <a:rPr lang="en-US" altLang="zh-CN" smtClean="0"/>
              <a:pPr/>
              <a:t>8</a:t>
            </a:fld>
            <a:endParaRPr lang="zh-CN" altLang="en-US"/>
          </a:p>
        </p:txBody>
      </p:sp>
      <p:sp>
        <p:nvSpPr>
          <p:cNvPr id="3" name="标题 2">
            <a:extLst>
              <a:ext uri="{FF2B5EF4-FFF2-40B4-BE49-F238E27FC236}">
                <a16:creationId xmlns:a16="http://schemas.microsoft.com/office/drawing/2014/main" id="{93EB0264-D161-6203-90AA-697CE41576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工作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A428565C-C41C-A3C2-3442-C2723653FD5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33801" y="1230122"/>
            <a:ext cx="10966163" cy="369332"/>
          </a:xfrm>
        </p:spPr>
        <p:txBody>
          <a:bodyPr/>
          <a:lstStyle/>
          <a:p>
            <a:r>
              <a:rPr lang="zh-CN" altLang="en-US"/>
              <a:t>论文的前半部分理论</a:t>
            </a:r>
          </a:p>
        </p:txBody>
      </p:sp>
      <p:sp>
        <p:nvSpPr>
          <p:cNvPr id="5" name="内容占位符 4">
            <a:extLst>
              <a:ext uri="{FF2B5EF4-FFF2-40B4-BE49-F238E27FC236}">
                <a16:creationId xmlns:a16="http://schemas.microsoft.com/office/drawing/2014/main" id="{585E6996-8C29-1E02-7979-8A194F69155E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696000" y="1860189"/>
            <a:ext cx="11496000" cy="1254189"/>
          </a:xfrm>
        </p:spPr>
        <p:txBody>
          <a:bodyPr/>
          <a:lstStyle/>
          <a:p>
            <a:pPr>
              <a:spcAft>
                <a:spcPts val="600"/>
              </a:spcAft>
            </a:pPr>
            <a:r>
              <a:rPr lang="en-US" altLang="zh-CN" sz="1600" b="1">
                <a:solidFill>
                  <a:schemeClr val="tx1"/>
                </a:solidFill>
                <a:cs typeface="Arial" panose="020B0604020202020204" pitchFamily="34" charset="0"/>
              </a:rPr>
              <a:t>CIM</a:t>
            </a:r>
            <a:r>
              <a:rPr lang="zh-CN" altLang="en-US" sz="1600" b="1">
                <a:solidFill>
                  <a:schemeClr val="tx1"/>
                </a:solidFill>
                <a:cs typeface="Arial" panose="020B0604020202020204" pitchFamily="34" charset="0"/>
              </a:rPr>
              <a:t>的</a:t>
            </a:r>
            <a:r>
              <a:rPr lang="en-US" altLang="zh-CN" sz="1600" b="1">
                <a:solidFill>
                  <a:schemeClr val="tx1"/>
                </a:solidFill>
                <a:cs typeface="Arial" panose="020B0604020202020204" pitchFamily="34" charset="0"/>
              </a:rPr>
              <a:t>Roofline</a:t>
            </a:r>
            <a:r>
              <a:rPr lang="zh-CN" altLang="en-US" sz="1600" b="1">
                <a:solidFill>
                  <a:schemeClr val="tx1"/>
                </a:solidFill>
                <a:cs typeface="Arial" panose="020B0604020202020204" pitchFamily="34" charset="0"/>
              </a:rPr>
              <a:t>形式和讨论：</a:t>
            </a:r>
            <a:endParaRPr lang="en-US" altLang="zh-CN" sz="1600" b="1">
              <a:solidFill>
                <a:schemeClr val="tx1"/>
              </a:solidFill>
              <a:cs typeface="Arial" panose="020B0604020202020204" pitchFamily="34" charset="0"/>
            </a:endParaRPr>
          </a:p>
          <a:p>
            <a:pPr>
              <a:spcAft>
                <a:spcPts val="600"/>
              </a:spcAft>
            </a:pPr>
            <a:r>
              <a:rPr lang="zh-CN" altLang="en-US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常规的</a:t>
            </a:r>
            <a:r>
              <a:rPr lang="en-US" altLang="zh-CN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CIM</a:t>
            </a:r>
            <a:r>
              <a:rPr lang="zh-CN" altLang="en-US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在离线部署的情况下</a:t>
            </a:r>
            <a:endParaRPr lang="en-US" altLang="zh-CN" sz="1600">
              <a:solidFill>
                <a:schemeClr val="tx1"/>
              </a:solidFill>
              <a:ea typeface="黑体" panose="02010609060101010101" pitchFamily="49" charset="-122"/>
              <a:cs typeface="Arial" panose="020B0604020202020204" pitchFamily="34" charset="0"/>
            </a:endParaRPr>
          </a:p>
          <a:p>
            <a:pPr>
              <a:spcAft>
                <a:spcPts val="600"/>
              </a:spcAft>
            </a:pPr>
            <a:r>
              <a:rPr lang="zh-CN" altLang="en-US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大多数都位于</a:t>
            </a:r>
            <a:r>
              <a:rPr lang="en-US" altLang="zh-CN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streaming-bound</a:t>
            </a:r>
            <a:r>
              <a:rPr lang="zh-CN" altLang="en-US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的区间，完全没有</a:t>
            </a:r>
            <a:r>
              <a:rPr lang="en-US" altLang="zh-CN" sz="1600">
                <a:solidFill>
                  <a:schemeClr val="tx1"/>
                </a:solidFill>
                <a:cs typeface="Arial" panose="020B0604020202020204" pitchFamily="34" charset="0"/>
              </a:rPr>
              <a:t>resident</a:t>
            </a:r>
            <a:endParaRPr lang="en-US" altLang="zh-CN" sz="1600">
              <a:solidFill>
                <a:schemeClr val="tx1"/>
              </a:solidFill>
              <a:ea typeface="黑体" panose="02010609060101010101" pitchFamily="49" charset="-122"/>
              <a:cs typeface="Arial" panose="020B0604020202020204" pitchFamily="34" charset="0"/>
            </a:endParaRPr>
          </a:p>
          <a:p>
            <a:pPr>
              <a:spcAft>
                <a:spcPts val="600"/>
              </a:spcAft>
            </a:pPr>
            <a:r>
              <a:rPr lang="zh-CN" altLang="en-US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只有在频繁的更新情况下才会落入</a:t>
            </a:r>
            <a:r>
              <a:rPr lang="en-US" altLang="zh-CN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resident-bound</a:t>
            </a:r>
          </a:p>
        </p:txBody>
      </p:sp>
      <p:pic>
        <p:nvPicPr>
          <p:cNvPr id="11" name="图片 10">
            <a:extLst>
              <a:ext uri="{FF2B5EF4-FFF2-40B4-BE49-F238E27FC236}">
                <a16:creationId xmlns:a16="http://schemas.microsoft.com/office/drawing/2014/main" id="{98F8C4CA-6429-BE45-72C0-C8C471071DA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550638"/>
            <a:ext cx="5870448" cy="2918009"/>
          </a:xfrm>
          <a:prstGeom prst="rect">
            <a:avLst/>
          </a:prstGeom>
        </p:spPr>
      </p:pic>
      <p:pic>
        <p:nvPicPr>
          <p:cNvPr id="12" name="图片 11">
            <a:extLst>
              <a:ext uri="{FF2B5EF4-FFF2-40B4-BE49-F238E27FC236}">
                <a16:creationId xmlns:a16="http://schemas.microsoft.com/office/drawing/2014/main" id="{1F6AC6C9-A2C9-A2E8-6CB2-567E1D018B9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34609" y="294643"/>
            <a:ext cx="6157389" cy="5760720"/>
          </a:xfrm>
          <a:prstGeom prst="rect">
            <a:avLst/>
          </a:prstGeom>
        </p:spPr>
      </p:pic>
      <p:pic>
        <p:nvPicPr>
          <p:cNvPr id="14" name="图片 13">
            <a:extLst>
              <a:ext uri="{FF2B5EF4-FFF2-40B4-BE49-F238E27FC236}">
                <a16:creationId xmlns:a16="http://schemas.microsoft.com/office/drawing/2014/main" id="{D06D2820-FBFB-D497-3CF3-16041DF4271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34609" y="6021455"/>
            <a:ext cx="6157389" cy="6972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0166300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C92879-B513-8934-74FD-FB134D7B03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灯片编号占位符 1">
            <a:extLst>
              <a:ext uri="{FF2B5EF4-FFF2-40B4-BE49-F238E27FC236}">
                <a16:creationId xmlns:a16="http://schemas.microsoft.com/office/drawing/2014/main" id="{13697A51-8A8E-37A5-B1E9-D5EB5D6963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EC669C-3A94-5645-80F3-ED04B501DFEC}" type="slidenum">
              <a:rPr lang="en-US" altLang="zh-CN" smtClean="0"/>
              <a:pPr/>
              <a:t>9</a:t>
            </a:fld>
            <a:endParaRPr lang="zh-CN" altLang="en-US"/>
          </a:p>
        </p:txBody>
      </p:sp>
      <p:sp>
        <p:nvSpPr>
          <p:cNvPr id="3" name="标题 2">
            <a:extLst>
              <a:ext uri="{FF2B5EF4-FFF2-40B4-BE49-F238E27FC236}">
                <a16:creationId xmlns:a16="http://schemas.microsoft.com/office/drawing/2014/main" id="{3ACDABE2-A0F4-308D-5B4E-18093B0FFF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工作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D159C537-381F-D19A-EFF9-B24CADE8824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33801" y="1230122"/>
            <a:ext cx="10966163" cy="369332"/>
          </a:xfrm>
        </p:spPr>
        <p:txBody>
          <a:bodyPr/>
          <a:lstStyle/>
          <a:p>
            <a:r>
              <a:rPr lang="zh-CN" altLang="en-US"/>
              <a:t>论文的后半部分分析</a:t>
            </a:r>
          </a:p>
        </p:txBody>
      </p:sp>
      <p:sp>
        <p:nvSpPr>
          <p:cNvPr id="5" name="内容占位符 4">
            <a:extLst>
              <a:ext uri="{FF2B5EF4-FFF2-40B4-BE49-F238E27FC236}">
                <a16:creationId xmlns:a16="http://schemas.microsoft.com/office/drawing/2014/main" id="{6DA25898-347E-270D-8F84-E9D173156D0E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696000" y="1860189"/>
            <a:ext cx="11496000" cy="582211"/>
          </a:xfrm>
        </p:spPr>
        <p:txBody>
          <a:bodyPr/>
          <a:lstStyle/>
          <a:p>
            <a:pPr>
              <a:spcAft>
                <a:spcPts val="600"/>
              </a:spcAft>
            </a:pPr>
            <a:r>
              <a:rPr lang="zh-CN" altLang="en-US" sz="1600" b="1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之前我们认为的</a:t>
            </a:r>
            <a:r>
              <a:rPr lang="en-US" altLang="zh-CN" sz="1600" b="1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CIM</a:t>
            </a:r>
            <a:r>
              <a:rPr lang="zh-CN" altLang="en-US" sz="1600" b="1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算力，都是等效算力，而且是可变的（并不是完全和硬件绑定的）</a:t>
            </a:r>
            <a:endParaRPr lang="en-US" altLang="zh-CN" sz="1600" b="1">
              <a:solidFill>
                <a:schemeClr val="tx1"/>
              </a:solidFill>
              <a:ea typeface="黑体" panose="02010609060101010101" pitchFamily="49" charset="-122"/>
              <a:cs typeface="Arial" panose="020B0604020202020204" pitchFamily="34" charset="0"/>
            </a:endParaRPr>
          </a:p>
          <a:p>
            <a:pPr>
              <a:spcAft>
                <a:spcPts val="600"/>
              </a:spcAft>
            </a:pPr>
            <a:r>
              <a:rPr lang="zh-CN" altLang="en-US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而且有一个“等效带宽”被下意识忽略掉了</a:t>
            </a:r>
            <a:endParaRPr lang="en-US" altLang="zh-CN" sz="1600">
              <a:solidFill>
                <a:schemeClr val="tx1"/>
              </a:solidFill>
              <a:ea typeface="黑体" panose="02010609060101010101" pitchFamily="49" charset="-122"/>
              <a:cs typeface="Arial" panose="020B0604020202020204" pitchFamily="34" charset="0"/>
            </a:endParaRPr>
          </a:p>
        </p:txBody>
      </p:sp>
      <p:pic>
        <p:nvPicPr>
          <p:cNvPr id="13" name="图片 12">
            <a:extLst>
              <a:ext uri="{FF2B5EF4-FFF2-40B4-BE49-F238E27FC236}">
                <a16:creationId xmlns:a16="http://schemas.microsoft.com/office/drawing/2014/main" id="{84655E32-6A33-E00E-DB64-7F68E76FF18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273" y="2489734"/>
            <a:ext cx="5503333" cy="4315389"/>
          </a:xfrm>
          <a:prstGeom prst="rect">
            <a:avLst/>
          </a:prstGeom>
        </p:spPr>
      </p:pic>
      <p:pic>
        <p:nvPicPr>
          <p:cNvPr id="14" name="图片 13">
            <a:extLst>
              <a:ext uri="{FF2B5EF4-FFF2-40B4-BE49-F238E27FC236}">
                <a16:creationId xmlns:a16="http://schemas.microsoft.com/office/drawing/2014/main" id="{5698C6C8-3750-B80E-8C1D-1F3882D8507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51147" y="2489734"/>
            <a:ext cx="6340853" cy="3923518"/>
          </a:xfrm>
          <a:prstGeom prst="rect">
            <a:avLst/>
          </a:prstGeom>
        </p:spPr>
      </p:pic>
      <p:pic>
        <p:nvPicPr>
          <p:cNvPr id="15" name="图片 14">
            <a:extLst>
              <a:ext uri="{FF2B5EF4-FFF2-40B4-BE49-F238E27FC236}">
                <a16:creationId xmlns:a16="http://schemas.microsoft.com/office/drawing/2014/main" id="{6EDF4F84-C1ED-9A3C-BEB9-1DEE3E54BE0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82266" y="441396"/>
            <a:ext cx="5702300" cy="10559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0867270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A32CC0-9FAC-78A5-E1D5-242615E6F7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灯片编号占位符 1">
            <a:extLst>
              <a:ext uri="{FF2B5EF4-FFF2-40B4-BE49-F238E27FC236}">
                <a16:creationId xmlns:a16="http://schemas.microsoft.com/office/drawing/2014/main" id="{4D1A1739-9DC1-50B7-FA99-98452FB04F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EC669C-3A94-5645-80F3-ED04B501DFEC}" type="slidenum">
              <a:rPr lang="en-US" altLang="zh-CN" smtClean="0"/>
              <a:pPr/>
              <a:t>10</a:t>
            </a:fld>
            <a:endParaRPr lang="zh-CN" altLang="en-US"/>
          </a:p>
        </p:txBody>
      </p:sp>
      <p:sp>
        <p:nvSpPr>
          <p:cNvPr id="3" name="标题 2">
            <a:extLst>
              <a:ext uri="{FF2B5EF4-FFF2-40B4-BE49-F238E27FC236}">
                <a16:creationId xmlns:a16="http://schemas.microsoft.com/office/drawing/2014/main" id="{3DFFA0E4-41EE-CA11-2D67-46B161D684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工作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F7836FBF-D1AE-3D57-5A2F-56BC4E40645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33801" y="1230122"/>
            <a:ext cx="10966163" cy="369332"/>
          </a:xfrm>
        </p:spPr>
        <p:txBody>
          <a:bodyPr/>
          <a:lstStyle/>
          <a:p>
            <a:r>
              <a:rPr lang="zh-CN" altLang="en-US"/>
              <a:t>论文的后半部分分析</a:t>
            </a:r>
          </a:p>
        </p:txBody>
      </p:sp>
      <p:sp>
        <p:nvSpPr>
          <p:cNvPr id="5" name="内容占位符 4">
            <a:extLst>
              <a:ext uri="{FF2B5EF4-FFF2-40B4-BE49-F238E27FC236}">
                <a16:creationId xmlns:a16="http://schemas.microsoft.com/office/drawing/2014/main" id="{571D9F5D-9648-8277-01A1-B45A859949E7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696000" y="1860189"/>
            <a:ext cx="11496000" cy="1254189"/>
          </a:xfrm>
        </p:spPr>
        <p:txBody>
          <a:bodyPr/>
          <a:lstStyle/>
          <a:p>
            <a:pPr>
              <a:spcAft>
                <a:spcPts val="600"/>
              </a:spcAft>
            </a:pPr>
            <a:r>
              <a:rPr lang="en-US" altLang="zh-CN" sz="1600" b="1" dirty="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CIM</a:t>
            </a:r>
            <a:r>
              <a:rPr lang="zh-CN" altLang="en-US" sz="1600" b="1" dirty="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硬件参数 </a:t>
            </a:r>
            <a:r>
              <a:rPr lang="en-US" altLang="zh-CN" sz="1600" b="1" dirty="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ρ</a:t>
            </a:r>
            <a:r>
              <a:rPr lang="zh-CN" altLang="en-US" sz="1600" b="1" dirty="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 和 </a:t>
            </a:r>
            <a:r>
              <a:rPr lang="en-US" altLang="zh-CN" sz="1600" b="1" dirty="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τ</a:t>
            </a:r>
            <a:r>
              <a:rPr lang="zh-CN" altLang="en-US" sz="1600" b="1" dirty="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 的计算方法：</a:t>
            </a:r>
            <a:endParaRPr lang="en-US" altLang="zh-CN" sz="1600" b="1" dirty="0">
              <a:solidFill>
                <a:schemeClr val="tx1"/>
              </a:solidFill>
              <a:ea typeface="黑体" panose="02010609060101010101" pitchFamily="49" charset="-122"/>
              <a:cs typeface="Arial" panose="020B0604020202020204" pitchFamily="34" charset="0"/>
            </a:endParaRPr>
          </a:p>
          <a:p>
            <a:pPr>
              <a:spcAft>
                <a:spcPts val="600"/>
              </a:spcAft>
            </a:pPr>
            <a:endParaRPr lang="en-US" altLang="zh-CN" sz="1600" dirty="0">
              <a:solidFill>
                <a:schemeClr val="tx1"/>
              </a:solidFill>
              <a:ea typeface="黑体" panose="02010609060101010101" pitchFamily="49" charset="-122"/>
              <a:cs typeface="Arial" panose="020B0604020202020204" pitchFamily="34" charset="0"/>
            </a:endParaRPr>
          </a:p>
          <a:p>
            <a:pPr>
              <a:spcAft>
                <a:spcPts val="600"/>
              </a:spcAft>
            </a:pPr>
            <a:endParaRPr lang="en-US" altLang="zh-CN" sz="1600" dirty="0">
              <a:solidFill>
                <a:schemeClr val="tx1"/>
              </a:solidFill>
              <a:ea typeface="黑体" panose="02010609060101010101" pitchFamily="49" charset="-122"/>
              <a:cs typeface="Arial" panose="020B0604020202020204" pitchFamily="34" charset="0"/>
            </a:endParaRPr>
          </a:p>
          <a:p>
            <a:pPr>
              <a:spcAft>
                <a:spcPts val="600"/>
              </a:spcAft>
            </a:pPr>
            <a:r>
              <a:rPr lang="en-US" altLang="zh-CN" sz="1600" dirty="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FeNOR</a:t>
            </a:r>
            <a:r>
              <a:rPr lang="zh-CN" altLang="en-US" sz="1600" dirty="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的例子：（</a:t>
            </a:r>
            <a:r>
              <a:rPr lang="en-US" altLang="zh-CN" sz="1600" dirty="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28nm</a:t>
            </a:r>
            <a:r>
              <a:rPr lang="zh-CN" altLang="en-US" sz="1600" dirty="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 </a:t>
            </a:r>
            <a:r>
              <a:rPr lang="en-US" altLang="zh-CN" sz="1600" dirty="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CMOS</a:t>
            </a:r>
            <a:r>
              <a:rPr lang="zh-CN" altLang="en-US" sz="1600" dirty="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假设）</a:t>
            </a:r>
            <a:endParaRPr lang="en-US" altLang="zh-CN" sz="1600" dirty="0">
              <a:solidFill>
                <a:schemeClr val="tx1"/>
              </a:solidFill>
              <a:ea typeface="黑体" panose="02010609060101010101" pitchFamily="49" charset="-122"/>
              <a:cs typeface="Arial" panose="020B0604020202020204" pitchFamily="34" charset="0"/>
            </a:endParaRPr>
          </a:p>
        </p:txBody>
      </p:sp>
      <p:pic>
        <p:nvPicPr>
          <p:cNvPr id="14" name="图片 13">
            <a:extLst>
              <a:ext uri="{FF2B5EF4-FFF2-40B4-BE49-F238E27FC236}">
                <a16:creationId xmlns:a16="http://schemas.microsoft.com/office/drawing/2014/main" id="{42A8574E-B629-7A42-8008-84353FA421E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2" y="1104691"/>
            <a:ext cx="6095998" cy="2278454"/>
          </a:xfrm>
          <a:prstGeom prst="rect">
            <a:avLst/>
          </a:prstGeom>
        </p:spPr>
      </p:pic>
      <p:pic>
        <p:nvPicPr>
          <p:cNvPr id="15" name="图片 14">
            <a:extLst>
              <a:ext uri="{FF2B5EF4-FFF2-40B4-BE49-F238E27FC236}">
                <a16:creationId xmlns:a16="http://schemas.microsoft.com/office/drawing/2014/main" id="{575C6CDC-4DBD-F0D6-5C5A-215820345B4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0" y="3655295"/>
            <a:ext cx="6095999" cy="1093181"/>
          </a:xfrm>
          <a:prstGeom prst="rect">
            <a:avLst/>
          </a:prstGeom>
        </p:spPr>
      </p:pic>
      <p:pic>
        <p:nvPicPr>
          <p:cNvPr id="16" name="图片 15">
            <a:extLst>
              <a:ext uri="{FF2B5EF4-FFF2-40B4-BE49-F238E27FC236}">
                <a16:creationId xmlns:a16="http://schemas.microsoft.com/office/drawing/2014/main" id="{9A59EBA0-761A-573D-DDB5-6FBD45AE5F6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0000" y="3429000"/>
            <a:ext cx="5789178" cy="31101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9230857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E22922-8863-7BE5-13D1-A57BFB65B9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灯片编号占位符 1">
            <a:extLst>
              <a:ext uri="{FF2B5EF4-FFF2-40B4-BE49-F238E27FC236}">
                <a16:creationId xmlns:a16="http://schemas.microsoft.com/office/drawing/2014/main" id="{CA959256-A475-092A-1BAD-0BCFF8DCCF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EC669C-3A94-5645-80F3-ED04B501DFEC}" type="slidenum">
              <a:rPr lang="en-US" altLang="zh-CN" smtClean="0"/>
              <a:pPr/>
              <a:t>11</a:t>
            </a:fld>
            <a:endParaRPr lang="zh-CN" altLang="en-US"/>
          </a:p>
        </p:txBody>
      </p:sp>
      <p:sp>
        <p:nvSpPr>
          <p:cNvPr id="3" name="标题 2">
            <a:extLst>
              <a:ext uri="{FF2B5EF4-FFF2-40B4-BE49-F238E27FC236}">
                <a16:creationId xmlns:a16="http://schemas.microsoft.com/office/drawing/2014/main" id="{F9946AE8-8DDC-D8D0-26A3-00AFD10067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工作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AA23BEE2-8214-CDEA-B079-891BE78E96A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33801" y="1230122"/>
            <a:ext cx="10966163" cy="369332"/>
          </a:xfrm>
        </p:spPr>
        <p:txBody>
          <a:bodyPr/>
          <a:lstStyle/>
          <a:p>
            <a:r>
              <a:rPr lang="zh-CN" altLang="en-US"/>
              <a:t>论文的后半部分分析</a:t>
            </a:r>
          </a:p>
        </p:txBody>
      </p:sp>
      <p:sp>
        <p:nvSpPr>
          <p:cNvPr id="5" name="内容占位符 4">
            <a:extLst>
              <a:ext uri="{FF2B5EF4-FFF2-40B4-BE49-F238E27FC236}">
                <a16:creationId xmlns:a16="http://schemas.microsoft.com/office/drawing/2014/main" id="{BE5C716E-B50B-8E21-FF89-2FBB71A2C3AA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696000" y="1860189"/>
            <a:ext cx="11496000" cy="1254189"/>
          </a:xfrm>
        </p:spPr>
        <p:txBody>
          <a:bodyPr/>
          <a:lstStyle/>
          <a:p>
            <a:pPr>
              <a:spcAft>
                <a:spcPts val="600"/>
              </a:spcAft>
            </a:pPr>
            <a:r>
              <a:rPr lang="zh-CN" altLang="en-US" sz="1600" b="1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不同的硬件，不同的任务，会对应不同的区间</a:t>
            </a:r>
            <a:endParaRPr lang="en-US" altLang="zh-CN" sz="1600" b="1">
              <a:solidFill>
                <a:schemeClr val="tx1"/>
              </a:solidFill>
              <a:ea typeface="黑体" panose="02010609060101010101" pitchFamily="49" charset="-122"/>
              <a:cs typeface="Arial" panose="020B0604020202020204" pitchFamily="34" charset="0"/>
            </a:endParaRPr>
          </a:p>
          <a:p>
            <a:pPr>
              <a:spcAft>
                <a:spcPts val="600"/>
              </a:spcAft>
            </a:pPr>
            <a:r>
              <a:rPr lang="zh-CN" altLang="en-US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对不同的</a:t>
            </a:r>
            <a:r>
              <a:rPr lang="en-US" altLang="zh-CN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CIM</a:t>
            </a:r>
            <a:r>
              <a:rPr lang="zh-CN" altLang="en-US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硬件进行了粗略的估算，彼此的</a:t>
            </a:r>
            <a:r>
              <a:rPr lang="en-US" altLang="zh-CN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RI</a:t>
            </a:r>
            <a:r>
              <a:rPr lang="zh-CN" altLang="en-US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截然不同</a:t>
            </a:r>
            <a:endParaRPr lang="en-US" altLang="zh-CN" sz="1600">
              <a:solidFill>
                <a:schemeClr val="tx1"/>
              </a:solidFill>
              <a:ea typeface="黑体" panose="02010609060101010101" pitchFamily="49" charset="-122"/>
              <a:cs typeface="Arial" panose="020B0604020202020204" pitchFamily="34" charset="0"/>
            </a:endParaRPr>
          </a:p>
          <a:p>
            <a:pPr>
              <a:spcAft>
                <a:spcPts val="600"/>
              </a:spcAft>
            </a:pPr>
            <a:r>
              <a:rPr lang="zh-CN" altLang="en-US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进一步的，我们可以估算不同的算法任务的需求，即 </a:t>
            </a:r>
            <a:r>
              <a:rPr lang="en-US" altLang="zh-CN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Qs</a:t>
            </a:r>
            <a:r>
              <a:rPr lang="zh-CN" altLang="en-US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 </a:t>
            </a:r>
            <a:r>
              <a:rPr lang="en-US" altLang="zh-CN" sz="1600" err="1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Qr</a:t>
            </a:r>
            <a:endParaRPr lang="en-US" altLang="zh-CN" sz="1600">
              <a:solidFill>
                <a:schemeClr val="tx1"/>
              </a:solidFill>
              <a:ea typeface="黑体" panose="02010609060101010101" pitchFamily="49" charset="-122"/>
              <a:cs typeface="Arial" panose="020B0604020202020204" pitchFamily="34" charset="0"/>
            </a:endParaRPr>
          </a:p>
          <a:p>
            <a:pPr>
              <a:spcAft>
                <a:spcPts val="600"/>
              </a:spcAft>
            </a:pPr>
            <a:r>
              <a:rPr lang="zh-CN" altLang="en-US" sz="1600" b="1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类似</a:t>
            </a:r>
            <a:r>
              <a:rPr lang="en-US" altLang="zh-CN" sz="1600" b="1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GPU</a:t>
            </a:r>
            <a:r>
              <a:rPr lang="zh-CN" altLang="en-US" sz="1600" b="1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，根据</a:t>
            </a:r>
            <a:r>
              <a:rPr lang="en-US" altLang="zh-CN" sz="1600" b="1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RI</a:t>
            </a:r>
            <a:r>
              <a:rPr lang="zh-CN" altLang="en-US" sz="1600" b="1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和</a:t>
            </a:r>
            <a:r>
              <a:rPr lang="en-US" altLang="zh-CN" sz="1600" b="1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ridge</a:t>
            </a:r>
            <a:r>
              <a:rPr lang="zh-CN" altLang="en-US" sz="1600" b="1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大小，就可以判断出</a:t>
            </a:r>
            <a:r>
              <a:rPr lang="en-US" altLang="zh-CN" sz="1600" b="1" err="1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FeNOR</a:t>
            </a:r>
            <a:r>
              <a:rPr lang="en-US" altLang="zh-CN" sz="1600" b="1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-CIM</a:t>
            </a:r>
            <a:r>
              <a:rPr lang="zh-CN" altLang="en-US" sz="1600" b="1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落在什么区间了</a:t>
            </a:r>
            <a:endParaRPr lang="en-US" altLang="zh-CN" sz="1600" b="1">
              <a:solidFill>
                <a:schemeClr val="tx1"/>
              </a:solidFill>
              <a:ea typeface="黑体" panose="02010609060101010101" pitchFamily="49" charset="-122"/>
              <a:cs typeface="Arial" panose="020B0604020202020204" pitchFamily="34" charset="0"/>
            </a:endParaRPr>
          </a:p>
        </p:txBody>
      </p:sp>
      <p:pic>
        <p:nvPicPr>
          <p:cNvPr id="12" name="图片 11">
            <a:extLst>
              <a:ext uri="{FF2B5EF4-FFF2-40B4-BE49-F238E27FC236}">
                <a16:creationId xmlns:a16="http://schemas.microsoft.com/office/drawing/2014/main" id="{8AB12549-338C-F191-B4C3-1E4CA1DE922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591" y="3669364"/>
            <a:ext cx="5951149" cy="3081026"/>
          </a:xfrm>
          <a:prstGeom prst="rect">
            <a:avLst/>
          </a:prstGeom>
        </p:spPr>
      </p:pic>
      <p:pic>
        <p:nvPicPr>
          <p:cNvPr id="6" name="图片 5">
            <a:extLst>
              <a:ext uri="{FF2B5EF4-FFF2-40B4-BE49-F238E27FC236}">
                <a16:creationId xmlns:a16="http://schemas.microsoft.com/office/drawing/2014/main" id="{8128BEC2-4E79-975E-3E54-3EDE1EF334B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2200" y="107610"/>
            <a:ext cx="6019800" cy="1634720"/>
          </a:xfrm>
          <a:prstGeom prst="rect">
            <a:avLst/>
          </a:prstGeom>
        </p:spPr>
      </p:pic>
      <p:pic>
        <p:nvPicPr>
          <p:cNvPr id="10" name="图片 9">
            <a:extLst>
              <a:ext uri="{FF2B5EF4-FFF2-40B4-BE49-F238E27FC236}">
                <a16:creationId xmlns:a16="http://schemas.microsoft.com/office/drawing/2014/main" id="{342BD249-A42F-33A6-CE9E-05A87EB8E3E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96000" y="3324006"/>
            <a:ext cx="5991440" cy="3426384"/>
          </a:xfrm>
          <a:prstGeom prst="rect">
            <a:avLst/>
          </a:prstGeom>
        </p:spPr>
      </p:pic>
      <p:pic>
        <p:nvPicPr>
          <p:cNvPr id="13" name="图片 12">
            <a:extLst>
              <a:ext uri="{FF2B5EF4-FFF2-40B4-BE49-F238E27FC236}">
                <a16:creationId xmlns:a16="http://schemas.microsoft.com/office/drawing/2014/main" id="{148388C5-C68E-D004-716F-722172C3DA5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83867" y="1898571"/>
            <a:ext cx="5808133" cy="8588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0014755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F52571-8665-09B4-AA35-22D85DA405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灯片编号占位符 1">
            <a:extLst>
              <a:ext uri="{FF2B5EF4-FFF2-40B4-BE49-F238E27FC236}">
                <a16:creationId xmlns:a16="http://schemas.microsoft.com/office/drawing/2014/main" id="{B72BC601-11AD-4B37-14E9-97FE5179F6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EC669C-3A94-5645-80F3-ED04B501DFEC}" type="slidenum">
              <a:rPr lang="en-US" altLang="zh-CN" smtClean="0"/>
              <a:pPr/>
              <a:t>12</a:t>
            </a:fld>
            <a:endParaRPr lang="zh-CN" altLang="en-US"/>
          </a:p>
        </p:txBody>
      </p:sp>
      <p:sp>
        <p:nvSpPr>
          <p:cNvPr id="3" name="标题 2">
            <a:extLst>
              <a:ext uri="{FF2B5EF4-FFF2-40B4-BE49-F238E27FC236}">
                <a16:creationId xmlns:a16="http://schemas.microsoft.com/office/drawing/2014/main" id="{9CCCB0DA-B584-2BA0-B627-67AD5A948D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工作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8BA9058B-D8E2-85C2-1EC7-23574C79797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33801" y="1230122"/>
            <a:ext cx="10966163" cy="369332"/>
          </a:xfrm>
        </p:spPr>
        <p:txBody>
          <a:bodyPr/>
          <a:lstStyle/>
          <a:p>
            <a:r>
              <a:rPr lang="zh-CN" altLang="en-US"/>
              <a:t>论文的后半部分分析</a:t>
            </a:r>
          </a:p>
        </p:txBody>
      </p:sp>
      <p:sp>
        <p:nvSpPr>
          <p:cNvPr id="5" name="内容占位符 4">
            <a:extLst>
              <a:ext uri="{FF2B5EF4-FFF2-40B4-BE49-F238E27FC236}">
                <a16:creationId xmlns:a16="http://schemas.microsoft.com/office/drawing/2014/main" id="{097E4037-9F5D-AA07-675D-5B93B763BA2E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696000" y="1860189"/>
            <a:ext cx="11496000" cy="918200"/>
          </a:xfrm>
        </p:spPr>
        <p:txBody>
          <a:bodyPr/>
          <a:lstStyle/>
          <a:p>
            <a:pPr>
              <a:spcAft>
                <a:spcPts val="600"/>
              </a:spcAft>
            </a:pPr>
            <a:r>
              <a:rPr lang="zh-CN" altLang="en-US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现在正在针对性的，分析不同</a:t>
            </a:r>
            <a:r>
              <a:rPr lang="en-US" altLang="zh-CN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NVM</a:t>
            </a:r>
            <a:r>
              <a:rPr lang="zh-CN" altLang="en-US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存储介质的关键参数</a:t>
            </a:r>
            <a:endParaRPr lang="en-US" altLang="zh-CN" sz="1600">
              <a:solidFill>
                <a:schemeClr val="tx1"/>
              </a:solidFill>
              <a:ea typeface="黑体" panose="02010609060101010101" pitchFamily="49" charset="-122"/>
              <a:cs typeface="Arial" panose="020B0604020202020204" pitchFamily="34" charset="0"/>
            </a:endParaRPr>
          </a:p>
          <a:p>
            <a:pPr>
              <a:spcAft>
                <a:spcPts val="600"/>
              </a:spcAft>
            </a:pPr>
            <a:endParaRPr lang="en-US" altLang="zh-CN" sz="1600">
              <a:solidFill>
                <a:schemeClr val="tx1"/>
              </a:solidFill>
              <a:ea typeface="黑体" panose="02010609060101010101" pitchFamily="49" charset="-122"/>
              <a:cs typeface="Arial" panose="020B0604020202020204" pitchFamily="34" charset="0"/>
            </a:endParaRPr>
          </a:p>
          <a:p>
            <a:pPr>
              <a:spcAft>
                <a:spcPts val="600"/>
              </a:spcAft>
            </a:pPr>
            <a:r>
              <a:rPr lang="zh-CN" altLang="en-US" sz="1600" b="1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统一的：</a:t>
            </a:r>
            <a:r>
              <a:rPr lang="en-US" altLang="zh-CN" sz="1600" b="1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28nm</a:t>
            </a:r>
            <a:r>
              <a:rPr lang="zh-CN" altLang="en-US" sz="1600" b="1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 </a:t>
            </a:r>
            <a:r>
              <a:rPr lang="en-US" altLang="zh-CN" sz="1600" b="1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CMOS</a:t>
            </a:r>
            <a:r>
              <a:rPr lang="zh-CN" altLang="en-US" sz="1600" b="1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外围电路（</a:t>
            </a:r>
            <a:r>
              <a:rPr lang="en-US" altLang="zh-CN" sz="1600" b="1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AD/DA</a:t>
            </a:r>
            <a:r>
              <a:rPr lang="zh-CN" altLang="en-US" sz="1600" b="1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），计算参数的方法</a:t>
            </a:r>
            <a:endParaRPr lang="en-US" altLang="zh-CN" sz="1600" b="1">
              <a:solidFill>
                <a:schemeClr val="tx1"/>
              </a:solidFill>
              <a:ea typeface="黑体" panose="02010609060101010101" pitchFamily="49" charset="-122"/>
              <a:cs typeface="Arial" panose="020B0604020202020204" pitchFamily="34" charset="0"/>
            </a:endParaRPr>
          </a:p>
        </p:txBody>
      </p:sp>
      <p:pic>
        <p:nvPicPr>
          <p:cNvPr id="7" name="图片 6">
            <a:extLst>
              <a:ext uri="{FF2B5EF4-FFF2-40B4-BE49-F238E27FC236}">
                <a16:creationId xmlns:a16="http://schemas.microsoft.com/office/drawing/2014/main" id="{486DBD95-8B49-00C9-64A3-17D7FF49814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67854" y="2225692"/>
            <a:ext cx="5480077" cy="4494502"/>
          </a:xfrm>
          <a:prstGeom prst="rect">
            <a:avLst/>
          </a:prstGeom>
        </p:spPr>
      </p:pic>
      <p:pic>
        <p:nvPicPr>
          <p:cNvPr id="8" name="图片 7">
            <a:extLst>
              <a:ext uri="{FF2B5EF4-FFF2-40B4-BE49-F238E27FC236}">
                <a16:creationId xmlns:a16="http://schemas.microsoft.com/office/drawing/2014/main" id="{AEEBBD8D-F9B6-94E0-26F8-699F3DFF159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3200" y="3261946"/>
            <a:ext cx="6053894" cy="34582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2839454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C9E5EB-AEBE-D9FE-5957-9E98194246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灯片编号占位符 1">
            <a:extLst>
              <a:ext uri="{FF2B5EF4-FFF2-40B4-BE49-F238E27FC236}">
                <a16:creationId xmlns:a16="http://schemas.microsoft.com/office/drawing/2014/main" id="{F2600CBE-E660-8D7E-CEAC-95522A267E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EC669C-3A94-5645-80F3-ED04B501DFEC}" type="slidenum">
              <a:rPr lang="en-US" altLang="zh-CN" smtClean="0"/>
              <a:pPr/>
              <a:t>13</a:t>
            </a:fld>
            <a:endParaRPr lang="zh-CN" altLang="en-US"/>
          </a:p>
        </p:txBody>
      </p:sp>
      <p:sp>
        <p:nvSpPr>
          <p:cNvPr id="3" name="标题 2">
            <a:extLst>
              <a:ext uri="{FF2B5EF4-FFF2-40B4-BE49-F238E27FC236}">
                <a16:creationId xmlns:a16="http://schemas.microsoft.com/office/drawing/2014/main" id="{96CF67BB-DD54-32B8-5E0E-C2856FE2B2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工作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054A4FCD-7F5C-3DDB-B429-0D98B3C1E75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33801" y="1230122"/>
            <a:ext cx="10966163" cy="369332"/>
          </a:xfrm>
        </p:spPr>
        <p:txBody>
          <a:bodyPr/>
          <a:lstStyle/>
          <a:p>
            <a:r>
              <a:rPr lang="zh-CN" altLang="en-US" dirty="0"/>
              <a:t>不同介质的参数估计</a:t>
            </a:r>
          </a:p>
        </p:txBody>
      </p:sp>
      <p:sp>
        <p:nvSpPr>
          <p:cNvPr id="5" name="内容占位符 4">
            <a:extLst>
              <a:ext uri="{FF2B5EF4-FFF2-40B4-BE49-F238E27FC236}">
                <a16:creationId xmlns:a16="http://schemas.microsoft.com/office/drawing/2014/main" id="{4F0788C6-5D5E-F5A6-790A-33AF029F223D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696000" y="1860189"/>
            <a:ext cx="11496000" cy="4278094"/>
          </a:xfrm>
        </p:spPr>
        <p:txBody>
          <a:bodyPr/>
          <a:lstStyle/>
          <a:p>
            <a:pPr>
              <a:spcAft>
                <a:spcPts val="600"/>
              </a:spcAft>
            </a:pPr>
            <a:r>
              <a:rPr lang="zh-CN" altLang="en-US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现在正在针对性的，分析不同</a:t>
            </a:r>
            <a:r>
              <a:rPr lang="en-US" altLang="zh-CN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NVM</a:t>
            </a:r>
            <a:r>
              <a:rPr lang="zh-CN" altLang="en-US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存储介质的关键参数</a:t>
            </a:r>
            <a:endParaRPr lang="en-US" altLang="zh-CN" sz="1600">
              <a:solidFill>
                <a:schemeClr val="tx1"/>
              </a:solidFill>
              <a:ea typeface="黑体" panose="02010609060101010101" pitchFamily="49" charset="-122"/>
              <a:cs typeface="Arial" panose="020B0604020202020204" pitchFamily="34" charset="0"/>
            </a:endParaRPr>
          </a:p>
          <a:p>
            <a:pPr>
              <a:spcAft>
                <a:spcPts val="600"/>
              </a:spcAft>
            </a:pPr>
            <a:endParaRPr lang="en-US" altLang="zh-CN" sz="1600">
              <a:solidFill>
                <a:schemeClr val="tx1"/>
              </a:solidFill>
              <a:ea typeface="黑体" panose="02010609060101010101" pitchFamily="49" charset="-122"/>
              <a:cs typeface="Arial" panose="020B0604020202020204" pitchFamily="34" charset="0"/>
            </a:endParaRPr>
          </a:p>
          <a:p>
            <a:pPr>
              <a:spcAft>
                <a:spcPts val="600"/>
              </a:spcAft>
            </a:pPr>
            <a:r>
              <a:rPr lang="zh-CN" altLang="en-US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不同的</a:t>
            </a:r>
            <a:r>
              <a:rPr lang="en-US" altLang="zh-CN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10</a:t>
            </a:r>
            <a:r>
              <a:rPr lang="zh-CN" altLang="en-US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种代表性</a:t>
            </a:r>
            <a:r>
              <a:rPr lang="en-US" altLang="zh-CN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NVM</a:t>
            </a:r>
            <a:r>
              <a:rPr lang="zh-CN" altLang="en-US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介质：</a:t>
            </a:r>
            <a:endParaRPr lang="en-US" altLang="zh-CN" sz="1600">
              <a:solidFill>
                <a:schemeClr val="tx1"/>
              </a:solidFill>
              <a:ea typeface="黑体" panose="02010609060101010101" pitchFamily="49" charset="-122"/>
              <a:cs typeface="Arial" panose="020B0604020202020204" pitchFamily="34" charset="0"/>
            </a:endParaRPr>
          </a:p>
          <a:p>
            <a:pPr>
              <a:spcAft>
                <a:spcPts val="600"/>
              </a:spcAft>
            </a:pPr>
            <a:r>
              <a:rPr lang="en-US" altLang="zh-CN" sz="1600" b="1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SRAM</a:t>
            </a:r>
            <a:r>
              <a:rPr lang="zh-CN" altLang="en-US" sz="1600" b="1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 </a:t>
            </a:r>
            <a:r>
              <a:rPr lang="en-US" altLang="zh-CN" sz="1600" b="1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DCIM</a:t>
            </a:r>
          </a:p>
          <a:p>
            <a:pPr>
              <a:spcAft>
                <a:spcPts val="600"/>
              </a:spcAft>
            </a:pPr>
            <a:r>
              <a:rPr lang="en-US" altLang="zh-CN" sz="1600" b="1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SRAM</a:t>
            </a:r>
            <a:r>
              <a:rPr lang="zh-CN" altLang="en-US" sz="1600" b="1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 </a:t>
            </a:r>
            <a:r>
              <a:rPr lang="en-US" altLang="zh-CN" sz="1600" b="1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ACIM</a:t>
            </a:r>
          </a:p>
          <a:p>
            <a:pPr>
              <a:spcAft>
                <a:spcPts val="600"/>
              </a:spcAft>
            </a:pPr>
            <a:r>
              <a:rPr lang="en-US" altLang="zh-CN" sz="1600" b="1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2D</a:t>
            </a:r>
            <a:r>
              <a:rPr lang="zh-CN" altLang="en-US" sz="1600" b="1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 </a:t>
            </a:r>
            <a:r>
              <a:rPr lang="en-US" altLang="zh-CN" sz="1600" b="1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NOR</a:t>
            </a:r>
          </a:p>
          <a:p>
            <a:pPr>
              <a:spcAft>
                <a:spcPts val="600"/>
              </a:spcAft>
            </a:pPr>
            <a:r>
              <a:rPr lang="en-US" altLang="zh-CN" sz="1600" b="1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3D</a:t>
            </a:r>
            <a:r>
              <a:rPr lang="zh-CN" altLang="en-US" sz="1600" b="1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 </a:t>
            </a:r>
            <a:r>
              <a:rPr lang="en-US" altLang="zh-CN" sz="1600" b="1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NAND</a:t>
            </a:r>
          </a:p>
          <a:p>
            <a:pPr>
              <a:spcAft>
                <a:spcPts val="600"/>
              </a:spcAft>
            </a:pPr>
            <a:r>
              <a:rPr lang="en-US" altLang="zh-CN" sz="1600" b="1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RRAM</a:t>
            </a:r>
          </a:p>
          <a:p>
            <a:pPr>
              <a:spcAft>
                <a:spcPts val="600"/>
              </a:spcAft>
            </a:pPr>
            <a:r>
              <a:rPr lang="en-US" altLang="zh-CN" sz="1600" b="1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MRAM</a:t>
            </a:r>
          </a:p>
          <a:p>
            <a:pPr>
              <a:spcAft>
                <a:spcPts val="600"/>
              </a:spcAft>
            </a:pPr>
            <a:r>
              <a:rPr lang="en-US" altLang="zh-CN" sz="1600" b="1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PCM</a:t>
            </a:r>
          </a:p>
          <a:p>
            <a:pPr>
              <a:spcAft>
                <a:spcPts val="600"/>
              </a:spcAft>
            </a:pPr>
            <a:r>
              <a:rPr lang="en-US" altLang="zh-CN" sz="1600" b="1" err="1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FeRAM</a:t>
            </a:r>
            <a:endParaRPr lang="en-US" altLang="zh-CN" sz="1600" b="1">
              <a:solidFill>
                <a:schemeClr val="tx1"/>
              </a:solidFill>
              <a:ea typeface="黑体" panose="02010609060101010101" pitchFamily="49" charset="-122"/>
              <a:cs typeface="Arial" panose="020B0604020202020204" pitchFamily="34" charset="0"/>
            </a:endParaRPr>
          </a:p>
          <a:p>
            <a:pPr>
              <a:spcAft>
                <a:spcPts val="600"/>
              </a:spcAft>
            </a:pPr>
            <a:r>
              <a:rPr lang="en-US" altLang="zh-CN" sz="1600" b="1" err="1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eDRAM</a:t>
            </a:r>
            <a:endParaRPr lang="en-US" altLang="zh-CN" sz="1600" b="1">
              <a:solidFill>
                <a:schemeClr val="tx1"/>
              </a:solidFill>
              <a:ea typeface="黑体" panose="02010609060101010101" pitchFamily="49" charset="-122"/>
              <a:cs typeface="Arial" panose="020B0604020202020204" pitchFamily="34" charset="0"/>
            </a:endParaRPr>
          </a:p>
          <a:p>
            <a:pPr>
              <a:spcAft>
                <a:spcPts val="600"/>
              </a:spcAft>
            </a:pPr>
            <a:r>
              <a:rPr lang="en-US" altLang="zh-CN" sz="1600" b="1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FeNOR</a:t>
            </a:r>
          </a:p>
        </p:txBody>
      </p:sp>
      <p:pic>
        <p:nvPicPr>
          <p:cNvPr id="6" name="图片 5">
            <a:extLst>
              <a:ext uri="{FF2B5EF4-FFF2-40B4-BE49-F238E27FC236}">
                <a16:creationId xmlns:a16="http://schemas.microsoft.com/office/drawing/2014/main" id="{AC25EBB9-AE1F-F80B-A8DE-B740F21E5CF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61431" y="1055076"/>
            <a:ext cx="4298129" cy="57370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3904437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45B48E-C8EA-A4C5-C1A2-1AEA7E3548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灯片编号占位符 1">
            <a:extLst>
              <a:ext uri="{FF2B5EF4-FFF2-40B4-BE49-F238E27FC236}">
                <a16:creationId xmlns:a16="http://schemas.microsoft.com/office/drawing/2014/main" id="{8B92BA47-9671-E66A-928E-00C2F93092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EC669C-3A94-5645-80F3-ED04B501DFEC}" type="slidenum">
              <a:rPr lang="en-US" altLang="zh-CN" smtClean="0"/>
              <a:pPr/>
              <a:t>14</a:t>
            </a:fld>
            <a:endParaRPr lang="zh-CN" altLang="en-US"/>
          </a:p>
        </p:txBody>
      </p:sp>
      <p:sp>
        <p:nvSpPr>
          <p:cNvPr id="3" name="标题 2">
            <a:extLst>
              <a:ext uri="{FF2B5EF4-FFF2-40B4-BE49-F238E27FC236}">
                <a16:creationId xmlns:a16="http://schemas.microsoft.com/office/drawing/2014/main" id="{B24B761B-ADDC-6B73-6CC5-9FC5E1E363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工作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18761C42-F46E-578C-936E-FA9BE1BD5FA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33801" y="1230122"/>
            <a:ext cx="10966163" cy="369332"/>
          </a:xfrm>
        </p:spPr>
        <p:txBody>
          <a:bodyPr/>
          <a:lstStyle/>
          <a:p>
            <a:r>
              <a:rPr lang="zh-CN" altLang="en-US" dirty="0"/>
              <a:t>不同介质的参数估计</a:t>
            </a:r>
          </a:p>
        </p:txBody>
      </p:sp>
      <p:sp>
        <p:nvSpPr>
          <p:cNvPr id="5" name="内容占位符 4">
            <a:extLst>
              <a:ext uri="{FF2B5EF4-FFF2-40B4-BE49-F238E27FC236}">
                <a16:creationId xmlns:a16="http://schemas.microsoft.com/office/drawing/2014/main" id="{9C3EC528-0702-2C52-2808-FCE9E1CB8E23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696000" y="1860189"/>
            <a:ext cx="11496000" cy="582211"/>
          </a:xfrm>
        </p:spPr>
        <p:txBody>
          <a:bodyPr/>
          <a:lstStyle/>
          <a:p>
            <a:pPr>
              <a:spcAft>
                <a:spcPts val="600"/>
              </a:spcAft>
            </a:pPr>
            <a:r>
              <a:rPr lang="en-US" altLang="zh-CN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SRAM ACIM</a:t>
            </a:r>
            <a:r>
              <a:rPr lang="zh-CN" altLang="en-US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（</a:t>
            </a:r>
            <a:r>
              <a:rPr lang="en-US" altLang="zh-CN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9T1C</a:t>
            </a:r>
            <a:r>
              <a:rPr lang="zh-CN" altLang="en-US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）</a:t>
            </a:r>
            <a:endParaRPr lang="en-US" altLang="zh-CN" sz="1600">
              <a:solidFill>
                <a:schemeClr val="tx1"/>
              </a:solidFill>
              <a:ea typeface="黑体" panose="02010609060101010101" pitchFamily="49" charset="-122"/>
              <a:cs typeface="Arial" panose="020B0604020202020204" pitchFamily="34" charset="0"/>
            </a:endParaRPr>
          </a:p>
          <a:p>
            <a:pPr>
              <a:spcAft>
                <a:spcPts val="600"/>
              </a:spcAft>
            </a:pPr>
            <a:r>
              <a:rPr lang="zh-CN" altLang="en-US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整体的</a:t>
            </a:r>
            <a:r>
              <a:rPr lang="en-US" altLang="zh-CN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RI</a:t>
            </a:r>
            <a:r>
              <a:rPr lang="zh-CN" altLang="en-US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很小，因为擦写非常快</a:t>
            </a:r>
            <a:endParaRPr lang="en-US" altLang="zh-CN" sz="1600">
              <a:solidFill>
                <a:schemeClr val="tx1"/>
              </a:solidFill>
              <a:ea typeface="黑体" panose="02010609060101010101" pitchFamily="49" charset="-122"/>
              <a:cs typeface="Arial" panose="020B0604020202020204" pitchFamily="34" charset="0"/>
            </a:endParaRPr>
          </a:p>
        </p:txBody>
      </p:sp>
      <p:pic>
        <p:nvPicPr>
          <p:cNvPr id="11" name="图片 10">
            <a:extLst>
              <a:ext uri="{FF2B5EF4-FFF2-40B4-BE49-F238E27FC236}">
                <a16:creationId xmlns:a16="http://schemas.microsoft.com/office/drawing/2014/main" id="{3AE6FEA5-1C40-4437-CCDE-8CDEC23E439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2250" y="3010023"/>
            <a:ext cx="5840950" cy="3273551"/>
          </a:xfrm>
          <a:prstGeom prst="rect">
            <a:avLst/>
          </a:prstGeom>
        </p:spPr>
      </p:pic>
      <p:pic>
        <p:nvPicPr>
          <p:cNvPr id="13" name="图片 12">
            <a:extLst>
              <a:ext uri="{FF2B5EF4-FFF2-40B4-BE49-F238E27FC236}">
                <a16:creationId xmlns:a16="http://schemas.microsoft.com/office/drawing/2014/main" id="{8D7304BE-4F24-543C-7F73-CA77536FF82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0300" y="3197475"/>
            <a:ext cx="5981700" cy="3086100"/>
          </a:xfrm>
          <a:prstGeom prst="rect">
            <a:avLst/>
          </a:prstGeom>
        </p:spPr>
      </p:pic>
      <p:pic>
        <p:nvPicPr>
          <p:cNvPr id="17" name="图片 16">
            <a:extLst>
              <a:ext uri="{FF2B5EF4-FFF2-40B4-BE49-F238E27FC236}">
                <a16:creationId xmlns:a16="http://schemas.microsoft.com/office/drawing/2014/main" id="{8EBF1C71-4242-024E-E3D4-52F91AF54DE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92340" y="0"/>
            <a:ext cx="4899660" cy="25125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510843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9060D1-151D-BC49-EEF0-2DA60FB20F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灯片编号占位符 1">
            <a:extLst>
              <a:ext uri="{FF2B5EF4-FFF2-40B4-BE49-F238E27FC236}">
                <a16:creationId xmlns:a16="http://schemas.microsoft.com/office/drawing/2014/main" id="{E2022544-6E43-D1E2-ADD4-E6A960FEB1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EC669C-3A94-5645-80F3-ED04B501DFEC}" type="slidenum">
              <a:rPr lang="en-US" altLang="zh-CN" smtClean="0"/>
              <a:pPr/>
              <a:t>15</a:t>
            </a:fld>
            <a:endParaRPr lang="zh-CN" altLang="en-US"/>
          </a:p>
        </p:txBody>
      </p:sp>
      <p:sp>
        <p:nvSpPr>
          <p:cNvPr id="3" name="标题 2">
            <a:extLst>
              <a:ext uri="{FF2B5EF4-FFF2-40B4-BE49-F238E27FC236}">
                <a16:creationId xmlns:a16="http://schemas.microsoft.com/office/drawing/2014/main" id="{D77A4257-9553-4BB7-D0A0-0F019E7F98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工作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8B96E898-1447-9DF3-F26B-540ECF3D473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33801" y="1230122"/>
            <a:ext cx="10966163" cy="369332"/>
          </a:xfrm>
        </p:spPr>
        <p:txBody>
          <a:bodyPr/>
          <a:lstStyle/>
          <a:p>
            <a:r>
              <a:rPr lang="zh-CN" altLang="en-US"/>
              <a:t>不同介质的参数估计</a:t>
            </a:r>
          </a:p>
        </p:txBody>
      </p:sp>
      <p:sp>
        <p:nvSpPr>
          <p:cNvPr id="5" name="内容占位符 4">
            <a:extLst>
              <a:ext uri="{FF2B5EF4-FFF2-40B4-BE49-F238E27FC236}">
                <a16:creationId xmlns:a16="http://schemas.microsoft.com/office/drawing/2014/main" id="{CE94AFB6-FA1E-3EE7-66EC-85475DB9E149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696000" y="1860189"/>
            <a:ext cx="11496000" cy="582211"/>
          </a:xfrm>
        </p:spPr>
        <p:txBody>
          <a:bodyPr/>
          <a:lstStyle/>
          <a:p>
            <a:pPr>
              <a:spcAft>
                <a:spcPts val="600"/>
              </a:spcAft>
            </a:pPr>
            <a:r>
              <a:rPr lang="en-US" altLang="zh-CN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SRAM DCIM</a:t>
            </a:r>
            <a:r>
              <a:rPr lang="zh-CN" altLang="en-US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（</a:t>
            </a:r>
            <a:r>
              <a:rPr lang="en-US" altLang="zh-CN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6T</a:t>
            </a:r>
            <a:r>
              <a:rPr lang="zh-CN" altLang="en-US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）</a:t>
            </a:r>
            <a:endParaRPr lang="en-US" altLang="zh-CN" sz="1600">
              <a:solidFill>
                <a:schemeClr val="tx1"/>
              </a:solidFill>
              <a:ea typeface="黑体" panose="02010609060101010101" pitchFamily="49" charset="-122"/>
              <a:cs typeface="Arial" panose="020B0604020202020204" pitchFamily="34" charset="0"/>
            </a:endParaRPr>
          </a:p>
          <a:p>
            <a:pPr>
              <a:spcAft>
                <a:spcPts val="600"/>
              </a:spcAft>
            </a:pPr>
            <a:r>
              <a:rPr lang="zh-CN" altLang="en-US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和</a:t>
            </a:r>
            <a:r>
              <a:rPr lang="en-US" altLang="zh-CN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ACIM</a:t>
            </a:r>
            <a:r>
              <a:rPr lang="zh-CN" altLang="en-US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的参数差不多，</a:t>
            </a:r>
            <a:r>
              <a:rPr lang="en-US" altLang="zh-CN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streaming</a:t>
            </a:r>
            <a:r>
              <a:rPr lang="zh-CN" altLang="en-US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甚至更慢</a:t>
            </a:r>
            <a:endParaRPr lang="en-US" altLang="zh-CN" sz="1600">
              <a:solidFill>
                <a:schemeClr val="tx1"/>
              </a:solidFill>
              <a:ea typeface="黑体" panose="02010609060101010101" pitchFamily="49" charset="-122"/>
              <a:cs typeface="Arial" panose="020B0604020202020204" pitchFamily="34" charset="0"/>
            </a:endParaRPr>
          </a:p>
        </p:txBody>
      </p:sp>
      <p:pic>
        <p:nvPicPr>
          <p:cNvPr id="7" name="图片 6">
            <a:extLst>
              <a:ext uri="{FF2B5EF4-FFF2-40B4-BE49-F238E27FC236}">
                <a16:creationId xmlns:a16="http://schemas.microsoft.com/office/drawing/2014/main" id="{07FB388F-CB2F-7F4F-4C28-080768BA1BF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3050" y="2899770"/>
            <a:ext cx="5822949" cy="3438064"/>
          </a:xfrm>
          <a:prstGeom prst="rect">
            <a:avLst/>
          </a:prstGeom>
        </p:spPr>
      </p:pic>
      <p:pic>
        <p:nvPicPr>
          <p:cNvPr id="9" name="图片 8">
            <a:extLst>
              <a:ext uri="{FF2B5EF4-FFF2-40B4-BE49-F238E27FC236}">
                <a16:creationId xmlns:a16="http://schemas.microsoft.com/office/drawing/2014/main" id="{DAAB5877-CC70-007F-518F-6BF7ECA9895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67302" y="2746574"/>
            <a:ext cx="5933258" cy="4010034"/>
          </a:xfrm>
          <a:prstGeom prst="rect">
            <a:avLst/>
          </a:prstGeom>
        </p:spPr>
      </p:pic>
      <p:pic>
        <p:nvPicPr>
          <p:cNvPr id="12" name="图片 11">
            <a:extLst>
              <a:ext uri="{FF2B5EF4-FFF2-40B4-BE49-F238E27FC236}">
                <a16:creationId xmlns:a16="http://schemas.microsoft.com/office/drawing/2014/main" id="{5714C0A8-7652-EE08-772B-04C8B04BFC70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b="23308"/>
          <a:stretch>
            <a:fillRect/>
          </a:stretch>
        </p:blipFill>
        <p:spPr>
          <a:xfrm>
            <a:off x="7459981" y="-1"/>
            <a:ext cx="4640580" cy="25890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92518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B7FA3A-328B-F760-E4DC-F46031CEDD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灯片编号占位符 1">
            <a:extLst>
              <a:ext uri="{FF2B5EF4-FFF2-40B4-BE49-F238E27FC236}">
                <a16:creationId xmlns:a16="http://schemas.microsoft.com/office/drawing/2014/main" id="{E9B1F1A1-A83B-136A-BABE-B97EB62955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EC669C-3A94-5645-80F3-ED04B501DFEC}" type="slidenum">
              <a:rPr lang="en-US" altLang="zh-CN" smtClean="0"/>
              <a:pPr/>
              <a:t>16</a:t>
            </a:fld>
            <a:endParaRPr lang="zh-CN" altLang="en-US"/>
          </a:p>
        </p:txBody>
      </p:sp>
      <p:sp>
        <p:nvSpPr>
          <p:cNvPr id="3" name="标题 2">
            <a:extLst>
              <a:ext uri="{FF2B5EF4-FFF2-40B4-BE49-F238E27FC236}">
                <a16:creationId xmlns:a16="http://schemas.microsoft.com/office/drawing/2014/main" id="{FC270949-E5C8-3296-33C7-5A1FC7A1A8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工作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8F64C5F2-46A0-E294-A6D3-2EA575A4F31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33801" y="1230122"/>
            <a:ext cx="10966163" cy="369332"/>
          </a:xfrm>
        </p:spPr>
        <p:txBody>
          <a:bodyPr/>
          <a:lstStyle/>
          <a:p>
            <a:r>
              <a:rPr lang="zh-CN" altLang="en-US"/>
              <a:t>不同介质的参数估计</a:t>
            </a:r>
          </a:p>
        </p:txBody>
      </p:sp>
      <p:sp>
        <p:nvSpPr>
          <p:cNvPr id="5" name="内容占位符 4">
            <a:extLst>
              <a:ext uri="{FF2B5EF4-FFF2-40B4-BE49-F238E27FC236}">
                <a16:creationId xmlns:a16="http://schemas.microsoft.com/office/drawing/2014/main" id="{1C60CC4A-1EB6-8E4B-FF3E-FE447502CB70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696000" y="1860189"/>
            <a:ext cx="11496000" cy="582211"/>
          </a:xfrm>
        </p:spPr>
        <p:txBody>
          <a:bodyPr/>
          <a:lstStyle/>
          <a:p>
            <a:pPr>
              <a:spcAft>
                <a:spcPts val="600"/>
              </a:spcAft>
            </a:pPr>
            <a:r>
              <a:rPr lang="en-US" altLang="zh-CN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2D NOR Flash</a:t>
            </a:r>
            <a:r>
              <a:rPr lang="zh-CN" altLang="en-US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（</a:t>
            </a:r>
            <a:r>
              <a:rPr lang="en-US" altLang="zh-CN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SLC</a:t>
            </a:r>
            <a:r>
              <a:rPr lang="zh-CN" altLang="en-US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）</a:t>
            </a:r>
            <a:endParaRPr lang="en-US" altLang="zh-CN" sz="1600">
              <a:solidFill>
                <a:schemeClr val="tx1"/>
              </a:solidFill>
              <a:ea typeface="黑体" panose="02010609060101010101" pitchFamily="49" charset="-122"/>
              <a:cs typeface="Arial" panose="020B0604020202020204" pitchFamily="34" charset="0"/>
            </a:endParaRPr>
          </a:p>
          <a:p>
            <a:pPr>
              <a:spcAft>
                <a:spcPts val="600"/>
              </a:spcAft>
            </a:pPr>
            <a:r>
              <a:rPr lang="zh-CN" altLang="en-US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整体的</a:t>
            </a:r>
            <a:r>
              <a:rPr lang="en-US" altLang="zh-CN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RI</a:t>
            </a:r>
            <a:r>
              <a:rPr lang="zh-CN" altLang="en-US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变大了很多，因为擦写速度慢</a:t>
            </a:r>
            <a:endParaRPr lang="en-US" altLang="zh-CN" sz="1600">
              <a:solidFill>
                <a:schemeClr val="tx1"/>
              </a:solidFill>
              <a:ea typeface="黑体" panose="02010609060101010101" pitchFamily="49" charset="-122"/>
              <a:cs typeface="Arial" panose="020B0604020202020204" pitchFamily="34" charset="0"/>
            </a:endParaRPr>
          </a:p>
        </p:txBody>
      </p:sp>
      <p:pic>
        <p:nvPicPr>
          <p:cNvPr id="8" name="图片 7">
            <a:extLst>
              <a:ext uri="{FF2B5EF4-FFF2-40B4-BE49-F238E27FC236}">
                <a16:creationId xmlns:a16="http://schemas.microsoft.com/office/drawing/2014/main" id="{44C63A60-4BF0-0FE6-C0C9-B9383535533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2962" y="2964180"/>
            <a:ext cx="5883038" cy="3071324"/>
          </a:xfrm>
          <a:prstGeom prst="rect">
            <a:avLst/>
          </a:prstGeom>
        </p:spPr>
      </p:pic>
      <p:pic>
        <p:nvPicPr>
          <p:cNvPr id="11" name="图片 10">
            <a:extLst>
              <a:ext uri="{FF2B5EF4-FFF2-40B4-BE49-F238E27FC236}">
                <a16:creationId xmlns:a16="http://schemas.microsoft.com/office/drawing/2014/main" id="{E8B2E2B8-BD79-C6B5-9588-35601459BDB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63242" y="3080482"/>
            <a:ext cx="5883038" cy="3693698"/>
          </a:xfrm>
          <a:prstGeom prst="rect">
            <a:avLst/>
          </a:prstGeom>
        </p:spPr>
      </p:pic>
      <p:pic>
        <p:nvPicPr>
          <p:cNvPr id="14" name="图片 13">
            <a:extLst>
              <a:ext uri="{FF2B5EF4-FFF2-40B4-BE49-F238E27FC236}">
                <a16:creationId xmlns:a16="http://schemas.microsoft.com/office/drawing/2014/main" id="{43679899-7DC8-F090-7BC6-084F3482D2B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20840" y="83820"/>
            <a:ext cx="5471160" cy="25826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1047416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118C3E-0B1C-4C99-65EB-C3E7646C8B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灯片编号占位符 1">
            <a:extLst>
              <a:ext uri="{FF2B5EF4-FFF2-40B4-BE49-F238E27FC236}">
                <a16:creationId xmlns:a16="http://schemas.microsoft.com/office/drawing/2014/main" id="{3110B1F1-1F0B-F479-66ED-E6401C1ABA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EC669C-3A94-5645-80F3-ED04B501DFEC}" type="slidenum">
              <a:rPr lang="en-US" altLang="zh-CN" smtClean="0"/>
              <a:pPr/>
              <a:t>17</a:t>
            </a:fld>
            <a:endParaRPr lang="zh-CN" altLang="en-US"/>
          </a:p>
        </p:txBody>
      </p:sp>
      <p:sp>
        <p:nvSpPr>
          <p:cNvPr id="3" name="标题 2">
            <a:extLst>
              <a:ext uri="{FF2B5EF4-FFF2-40B4-BE49-F238E27FC236}">
                <a16:creationId xmlns:a16="http://schemas.microsoft.com/office/drawing/2014/main" id="{1FC533E0-E78F-8380-EA0C-FA1CB22554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工作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11442BC9-C3F4-B6BE-F2E7-9800FA76952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33801" y="1230122"/>
            <a:ext cx="10966163" cy="369332"/>
          </a:xfrm>
        </p:spPr>
        <p:txBody>
          <a:bodyPr/>
          <a:lstStyle/>
          <a:p>
            <a:r>
              <a:rPr lang="zh-CN" altLang="en-US"/>
              <a:t>不同介质的参数估计</a:t>
            </a:r>
          </a:p>
        </p:txBody>
      </p:sp>
      <p:sp>
        <p:nvSpPr>
          <p:cNvPr id="5" name="内容占位符 4">
            <a:extLst>
              <a:ext uri="{FF2B5EF4-FFF2-40B4-BE49-F238E27FC236}">
                <a16:creationId xmlns:a16="http://schemas.microsoft.com/office/drawing/2014/main" id="{3A0996C0-76D3-A890-0B9D-A1A0ABA89B81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696000" y="1860189"/>
            <a:ext cx="11496000" cy="582211"/>
          </a:xfrm>
        </p:spPr>
        <p:txBody>
          <a:bodyPr/>
          <a:lstStyle/>
          <a:p>
            <a:pPr>
              <a:spcAft>
                <a:spcPts val="600"/>
              </a:spcAft>
            </a:pPr>
            <a:r>
              <a:rPr lang="en-US" altLang="zh-CN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3D NAND Flash </a:t>
            </a:r>
            <a:r>
              <a:rPr lang="zh-CN" altLang="en-US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（</a:t>
            </a:r>
            <a:r>
              <a:rPr lang="en-US" altLang="zh-CN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SLC</a:t>
            </a:r>
            <a:r>
              <a:rPr lang="zh-CN" altLang="en-US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）</a:t>
            </a:r>
            <a:endParaRPr lang="en-US" altLang="zh-CN" sz="1600">
              <a:solidFill>
                <a:schemeClr val="tx1"/>
              </a:solidFill>
              <a:ea typeface="黑体" panose="02010609060101010101" pitchFamily="49" charset="-122"/>
              <a:cs typeface="Arial" panose="020B0604020202020204" pitchFamily="34" charset="0"/>
            </a:endParaRPr>
          </a:p>
          <a:p>
            <a:pPr>
              <a:spcAft>
                <a:spcPts val="600"/>
              </a:spcAft>
            </a:pPr>
            <a:r>
              <a:rPr lang="zh-CN" altLang="en-US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比</a:t>
            </a:r>
            <a:r>
              <a:rPr lang="en-US" altLang="zh-CN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NOR</a:t>
            </a:r>
            <a:r>
              <a:rPr lang="zh-CN" altLang="en-US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的</a:t>
            </a:r>
            <a:r>
              <a:rPr lang="en-US" altLang="zh-CN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RI</a:t>
            </a:r>
            <a:r>
              <a:rPr lang="zh-CN" altLang="en-US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还更小一点，因为读速度太慢了</a:t>
            </a:r>
            <a:endParaRPr lang="en-US" altLang="zh-CN" sz="1600">
              <a:solidFill>
                <a:schemeClr val="tx1"/>
              </a:solidFill>
              <a:ea typeface="黑体" panose="02010609060101010101" pitchFamily="49" charset="-122"/>
              <a:cs typeface="Arial" panose="020B0604020202020204" pitchFamily="34" charset="0"/>
            </a:endParaRPr>
          </a:p>
        </p:txBody>
      </p:sp>
      <p:pic>
        <p:nvPicPr>
          <p:cNvPr id="7" name="图片 6">
            <a:extLst>
              <a:ext uri="{FF2B5EF4-FFF2-40B4-BE49-F238E27FC236}">
                <a16:creationId xmlns:a16="http://schemas.microsoft.com/office/drawing/2014/main" id="{3D0F6CC7-9A93-3425-E9B4-DC2A099F0EE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5740" y="2941319"/>
            <a:ext cx="5890260" cy="3502741"/>
          </a:xfrm>
          <a:prstGeom prst="rect">
            <a:avLst/>
          </a:prstGeom>
        </p:spPr>
      </p:pic>
      <p:pic>
        <p:nvPicPr>
          <p:cNvPr id="9" name="图片 8">
            <a:extLst>
              <a:ext uri="{FF2B5EF4-FFF2-40B4-BE49-F238E27FC236}">
                <a16:creationId xmlns:a16="http://schemas.microsoft.com/office/drawing/2014/main" id="{85FAF618-91A5-ADB5-92D6-5831D588A44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1740" y="2845825"/>
            <a:ext cx="5890260" cy="563493"/>
          </a:xfrm>
          <a:prstGeom prst="rect">
            <a:avLst/>
          </a:prstGeom>
        </p:spPr>
      </p:pic>
      <p:pic>
        <p:nvPicPr>
          <p:cNvPr id="11" name="图片 10">
            <a:extLst>
              <a:ext uri="{FF2B5EF4-FFF2-40B4-BE49-F238E27FC236}">
                <a16:creationId xmlns:a16="http://schemas.microsoft.com/office/drawing/2014/main" id="{FF12AC31-5AC4-8CDB-10D1-D08364934A7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01740" y="3448683"/>
            <a:ext cx="5890260" cy="3258722"/>
          </a:xfrm>
          <a:prstGeom prst="rect">
            <a:avLst/>
          </a:prstGeom>
        </p:spPr>
      </p:pic>
      <p:pic>
        <p:nvPicPr>
          <p:cNvPr id="13" name="图片 12">
            <a:extLst>
              <a:ext uri="{FF2B5EF4-FFF2-40B4-BE49-F238E27FC236}">
                <a16:creationId xmlns:a16="http://schemas.microsoft.com/office/drawing/2014/main" id="{C47D17B6-5861-E57C-F795-F07F8649108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91400" y="0"/>
            <a:ext cx="4800600" cy="23788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7435523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3DAFE6-C06E-1BF5-155E-8312BCE139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灯片编号占位符 1">
            <a:extLst>
              <a:ext uri="{FF2B5EF4-FFF2-40B4-BE49-F238E27FC236}">
                <a16:creationId xmlns:a16="http://schemas.microsoft.com/office/drawing/2014/main" id="{9CE68ED5-4FC2-00F7-F8F5-1DC6BC9D89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EC669C-3A94-5645-80F3-ED04B501DFEC}" type="slidenum">
              <a:rPr lang="en-US" altLang="zh-CN" smtClean="0"/>
              <a:pPr/>
              <a:t>18</a:t>
            </a:fld>
            <a:endParaRPr lang="zh-CN" altLang="en-US"/>
          </a:p>
        </p:txBody>
      </p:sp>
      <p:sp>
        <p:nvSpPr>
          <p:cNvPr id="3" name="标题 2">
            <a:extLst>
              <a:ext uri="{FF2B5EF4-FFF2-40B4-BE49-F238E27FC236}">
                <a16:creationId xmlns:a16="http://schemas.microsoft.com/office/drawing/2014/main" id="{4B3F2C8A-77DD-0B39-D863-44DC501648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工作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DB791D25-347B-6CE3-8892-CC00447A0BD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33801" y="1230122"/>
            <a:ext cx="10966163" cy="369332"/>
          </a:xfrm>
        </p:spPr>
        <p:txBody>
          <a:bodyPr/>
          <a:lstStyle/>
          <a:p>
            <a:r>
              <a:rPr lang="zh-CN" altLang="en-US"/>
              <a:t>不同介质的参数估计</a:t>
            </a:r>
          </a:p>
        </p:txBody>
      </p:sp>
      <p:sp>
        <p:nvSpPr>
          <p:cNvPr id="5" name="内容占位符 4">
            <a:extLst>
              <a:ext uri="{FF2B5EF4-FFF2-40B4-BE49-F238E27FC236}">
                <a16:creationId xmlns:a16="http://schemas.microsoft.com/office/drawing/2014/main" id="{6D56BF3D-6800-816D-EB7B-E032EBE6364C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696000" y="1860189"/>
            <a:ext cx="11496000" cy="582211"/>
          </a:xfrm>
        </p:spPr>
        <p:txBody>
          <a:bodyPr/>
          <a:lstStyle/>
          <a:p>
            <a:pPr>
              <a:spcAft>
                <a:spcPts val="600"/>
              </a:spcAft>
            </a:pPr>
            <a:r>
              <a:rPr lang="en-US" altLang="zh-CN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RRAM</a:t>
            </a:r>
            <a:r>
              <a:rPr lang="zh-CN" altLang="en-US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（</a:t>
            </a:r>
            <a:r>
              <a:rPr lang="en-US" altLang="zh-CN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2T1R</a:t>
            </a:r>
            <a:r>
              <a:rPr lang="zh-CN" altLang="en-US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）</a:t>
            </a:r>
            <a:endParaRPr lang="en-US" altLang="zh-CN" sz="1600">
              <a:solidFill>
                <a:schemeClr val="tx1"/>
              </a:solidFill>
              <a:ea typeface="黑体" panose="02010609060101010101" pitchFamily="49" charset="-122"/>
              <a:cs typeface="Arial" panose="020B0604020202020204" pitchFamily="34" charset="0"/>
            </a:endParaRPr>
          </a:p>
          <a:p>
            <a:pPr>
              <a:spcAft>
                <a:spcPts val="600"/>
              </a:spcAft>
            </a:pPr>
            <a:r>
              <a:rPr lang="zh-CN" altLang="en-US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比较典型的</a:t>
            </a:r>
            <a:r>
              <a:rPr lang="en-US" altLang="zh-CN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NVM</a:t>
            </a:r>
            <a:r>
              <a:rPr lang="zh-CN" altLang="en-US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，读快写慢</a:t>
            </a:r>
            <a:endParaRPr lang="en-US" altLang="zh-CN" sz="1600">
              <a:solidFill>
                <a:schemeClr val="tx1"/>
              </a:solidFill>
              <a:ea typeface="黑体" panose="02010609060101010101" pitchFamily="49" charset="-122"/>
              <a:cs typeface="Arial" panose="020B0604020202020204" pitchFamily="34" charset="0"/>
            </a:endParaRPr>
          </a:p>
        </p:txBody>
      </p:sp>
      <p:pic>
        <p:nvPicPr>
          <p:cNvPr id="7" name="图片 6">
            <a:extLst>
              <a:ext uri="{FF2B5EF4-FFF2-40B4-BE49-F238E27FC236}">
                <a16:creationId xmlns:a16="http://schemas.microsoft.com/office/drawing/2014/main" id="{E9F4CAE6-0427-F7C1-C953-EB96FB7670D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9080" y="2991998"/>
            <a:ext cx="5836920" cy="3296092"/>
          </a:xfrm>
          <a:prstGeom prst="rect">
            <a:avLst/>
          </a:prstGeom>
        </p:spPr>
      </p:pic>
      <p:pic>
        <p:nvPicPr>
          <p:cNvPr id="11" name="图片 10">
            <a:extLst>
              <a:ext uri="{FF2B5EF4-FFF2-40B4-BE49-F238E27FC236}">
                <a16:creationId xmlns:a16="http://schemas.microsoft.com/office/drawing/2014/main" id="{71ED7D47-846B-92D2-BADB-C4EDA6C3436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54643" y="2895600"/>
            <a:ext cx="5922395" cy="3883538"/>
          </a:xfrm>
          <a:prstGeom prst="rect">
            <a:avLst/>
          </a:prstGeom>
        </p:spPr>
      </p:pic>
      <p:pic>
        <p:nvPicPr>
          <p:cNvPr id="13" name="图片 12">
            <a:extLst>
              <a:ext uri="{FF2B5EF4-FFF2-40B4-BE49-F238E27FC236}">
                <a16:creationId xmlns:a16="http://schemas.microsoft.com/office/drawing/2014/main" id="{5F0AA757-C153-76BE-863E-8EBC55B23B8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28868" y="0"/>
            <a:ext cx="2499046" cy="27842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1494156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A8B5EE-97BE-6DEA-1B53-4EA4CF04CD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灯片编号占位符 1">
            <a:extLst>
              <a:ext uri="{FF2B5EF4-FFF2-40B4-BE49-F238E27FC236}">
                <a16:creationId xmlns:a16="http://schemas.microsoft.com/office/drawing/2014/main" id="{35BE1E3A-E292-D156-FABF-5B0102E47E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EC669C-3A94-5645-80F3-ED04B501DFEC}" type="slidenum">
              <a:rPr lang="en-US" altLang="zh-CN" smtClean="0"/>
              <a:pPr/>
              <a:t>19</a:t>
            </a:fld>
            <a:endParaRPr lang="zh-CN" altLang="en-US"/>
          </a:p>
        </p:txBody>
      </p:sp>
      <p:sp>
        <p:nvSpPr>
          <p:cNvPr id="3" name="标题 2">
            <a:extLst>
              <a:ext uri="{FF2B5EF4-FFF2-40B4-BE49-F238E27FC236}">
                <a16:creationId xmlns:a16="http://schemas.microsoft.com/office/drawing/2014/main" id="{A6D6D5D9-E15D-9819-8013-D19F7B4193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工作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91B3F9BC-CA1D-B4EF-D682-72B0B1402C8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33801" y="1230122"/>
            <a:ext cx="10966163" cy="369332"/>
          </a:xfrm>
        </p:spPr>
        <p:txBody>
          <a:bodyPr/>
          <a:lstStyle/>
          <a:p>
            <a:r>
              <a:rPr lang="zh-CN" altLang="en-US"/>
              <a:t>不同介质的参数估计</a:t>
            </a:r>
          </a:p>
        </p:txBody>
      </p:sp>
      <p:sp>
        <p:nvSpPr>
          <p:cNvPr id="5" name="内容占位符 4">
            <a:extLst>
              <a:ext uri="{FF2B5EF4-FFF2-40B4-BE49-F238E27FC236}">
                <a16:creationId xmlns:a16="http://schemas.microsoft.com/office/drawing/2014/main" id="{357AC1A4-E141-D5EB-8882-69598CC7D0E8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696000" y="1860189"/>
            <a:ext cx="11496000" cy="582211"/>
          </a:xfrm>
        </p:spPr>
        <p:txBody>
          <a:bodyPr/>
          <a:lstStyle/>
          <a:p>
            <a:pPr>
              <a:spcAft>
                <a:spcPts val="600"/>
              </a:spcAft>
            </a:pPr>
            <a:r>
              <a:rPr lang="en-US" altLang="zh-CN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MRAM</a:t>
            </a:r>
            <a:r>
              <a:rPr lang="zh-CN" altLang="en-US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（</a:t>
            </a:r>
            <a:r>
              <a:rPr lang="en-US" altLang="zh-CN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2T2M</a:t>
            </a:r>
            <a:r>
              <a:rPr lang="zh-CN" altLang="en-US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）</a:t>
            </a:r>
            <a:endParaRPr lang="en-US" altLang="zh-CN" sz="1600">
              <a:solidFill>
                <a:schemeClr val="tx1"/>
              </a:solidFill>
              <a:ea typeface="黑体" panose="02010609060101010101" pitchFamily="49" charset="-122"/>
              <a:cs typeface="Arial" panose="020B0604020202020204" pitchFamily="34" charset="0"/>
            </a:endParaRPr>
          </a:p>
          <a:p>
            <a:pPr>
              <a:spcAft>
                <a:spcPts val="600"/>
              </a:spcAft>
            </a:pPr>
            <a:r>
              <a:rPr lang="zh-CN" altLang="en-US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和</a:t>
            </a:r>
            <a:r>
              <a:rPr lang="en-US" altLang="zh-CN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SRAM</a:t>
            </a:r>
            <a:r>
              <a:rPr lang="zh-CN" altLang="en-US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的读速度差不多，但是擦写速度慢很多，</a:t>
            </a:r>
            <a:r>
              <a:rPr lang="en-US" altLang="zh-CN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RI~1</a:t>
            </a:r>
          </a:p>
        </p:txBody>
      </p:sp>
      <p:pic>
        <p:nvPicPr>
          <p:cNvPr id="7" name="图片 6">
            <a:extLst>
              <a:ext uri="{FF2B5EF4-FFF2-40B4-BE49-F238E27FC236}">
                <a16:creationId xmlns:a16="http://schemas.microsoft.com/office/drawing/2014/main" id="{FE2634DB-A779-664D-758D-0A59895B963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1286" y="3136900"/>
            <a:ext cx="5794714" cy="3073152"/>
          </a:xfrm>
          <a:prstGeom prst="rect">
            <a:avLst/>
          </a:prstGeom>
        </p:spPr>
      </p:pic>
      <p:pic>
        <p:nvPicPr>
          <p:cNvPr id="9" name="图片 8">
            <a:extLst>
              <a:ext uri="{FF2B5EF4-FFF2-40B4-BE49-F238E27FC236}">
                <a16:creationId xmlns:a16="http://schemas.microsoft.com/office/drawing/2014/main" id="{326DEC7F-D7FA-DB84-E898-EC3C48D4A16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2714" y="2367145"/>
            <a:ext cx="5842000" cy="4341501"/>
          </a:xfrm>
          <a:prstGeom prst="rect">
            <a:avLst/>
          </a:prstGeom>
        </p:spPr>
      </p:pic>
      <p:pic>
        <p:nvPicPr>
          <p:cNvPr id="11" name="图片 10">
            <a:extLst>
              <a:ext uri="{FF2B5EF4-FFF2-40B4-BE49-F238E27FC236}">
                <a16:creationId xmlns:a16="http://schemas.microsoft.com/office/drawing/2014/main" id="{64BC7641-86CE-0ED8-C34E-5A8A7AD47A4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65950" y="8314"/>
            <a:ext cx="5226050" cy="19456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2688078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481E32-2BA0-04A3-54B6-E4F09B2020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灯片编号占位符 1">
            <a:extLst>
              <a:ext uri="{FF2B5EF4-FFF2-40B4-BE49-F238E27FC236}">
                <a16:creationId xmlns:a16="http://schemas.microsoft.com/office/drawing/2014/main" id="{BC8CF269-EC48-6532-C11F-FFE8E6BDE2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EC669C-3A94-5645-80F3-ED04B501DFEC}" type="slidenum">
              <a:rPr lang="en-US" altLang="zh-CN" smtClean="0"/>
              <a:pPr/>
              <a:t>20</a:t>
            </a:fld>
            <a:endParaRPr lang="zh-CN" altLang="en-US"/>
          </a:p>
        </p:txBody>
      </p:sp>
      <p:sp>
        <p:nvSpPr>
          <p:cNvPr id="3" name="标题 2">
            <a:extLst>
              <a:ext uri="{FF2B5EF4-FFF2-40B4-BE49-F238E27FC236}">
                <a16:creationId xmlns:a16="http://schemas.microsoft.com/office/drawing/2014/main" id="{2814401C-8FF2-8E7E-FF19-8390724796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工作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C5DE9729-8116-D0F5-B40C-0B8E8778457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33801" y="1230122"/>
            <a:ext cx="10966163" cy="369332"/>
          </a:xfrm>
        </p:spPr>
        <p:txBody>
          <a:bodyPr/>
          <a:lstStyle/>
          <a:p>
            <a:r>
              <a:rPr lang="zh-CN" altLang="en-US"/>
              <a:t>不同介质的参数估计</a:t>
            </a:r>
          </a:p>
        </p:txBody>
      </p:sp>
      <p:sp>
        <p:nvSpPr>
          <p:cNvPr id="5" name="内容占位符 4">
            <a:extLst>
              <a:ext uri="{FF2B5EF4-FFF2-40B4-BE49-F238E27FC236}">
                <a16:creationId xmlns:a16="http://schemas.microsoft.com/office/drawing/2014/main" id="{129D401F-7F23-BF6A-E94A-29CC9FE15270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696000" y="1860189"/>
            <a:ext cx="11496000" cy="582211"/>
          </a:xfrm>
        </p:spPr>
        <p:txBody>
          <a:bodyPr/>
          <a:lstStyle/>
          <a:p>
            <a:pPr>
              <a:spcAft>
                <a:spcPts val="600"/>
              </a:spcAft>
            </a:pPr>
            <a:r>
              <a:rPr lang="en-US" altLang="zh-CN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PCM</a:t>
            </a:r>
            <a:r>
              <a:rPr lang="zh-CN" altLang="en-US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（</a:t>
            </a:r>
            <a:r>
              <a:rPr lang="en-US" altLang="zh-CN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SLC</a:t>
            </a:r>
            <a:r>
              <a:rPr lang="zh-CN" altLang="en-US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）</a:t>
            </a:r>
            <a:endParaRPr lang="en-US" altLang="zh-CN" sz="1600">
              <a:solidFill>
                <a:schemeClr val="tx1"/>
              </a:solidFill>
              <a:ea typeface="黑体" panose="02010609060101010101" pitchFamily="49" charset="-122"/>
              <a:cs typeface="Arial" panose="020B0604020202020204" pitchFamily="34" charset="0"/>
            </a:endParaRPr>
          </a:p>
          <a:p>
            <a:pPr>
              <a:spcAft>
                <a:spcPts val="600"/>
              </a:spcAft>
            </a:pPr>
            <a:r>
              <a:rPr lang="zh-CN" altLang="en-US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读写的速度差不多，写速度略快一些</a:t>
            </a:r>
            <a:endParaRPr lang="en-US" altLang="zh-CN" sz="1600">
              <a:solidFill>
                <a:schemeClr val="tx1"/>
              </a:solidFill>
              <a:ea typeface="黑体" panose="02010609060101010101" pitchFamily="49" charset="-122"/>
              <a:cs typeface="Arial" panose="020B0604020202020204" pitchFamily="34" charset="0"/>
            </a:endParaRPr>
          </a:p>
        </p:txBody>
      </p:sp>
      <p:pic>
        <p:nvPicPr>
          <p:cNvPr id="7" name="图片 6">
            <a:extLst>
              <a:ext uri="{FF2B5EF4-FFF2-40B4-BE49-F238E27FC236}">
                <a16:creationId xmlns:a16="http://schemas.microsoft.com/office/drawing/2014/main" id="{0953A627-B0DD-AD2F-6E9B-62B37D9AAF5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1980" y="3106579"/>
            <a:ext cx="5784020" cy="3152161"/>
          </a:xfrm>
          <a:prstGeom prst="rect">
            <a:avLst/>
          </a:prstGeom>
        </p:spPr>
      </p:pic>
      <p:pic>
        <p:nvPicPr>
          <p:cNvPr id="9" name="图片 8">
            <a:extLst>
              <a:ext uri="{FF2B5EF4-FFF2-40B4-BE49-F238E27FC236}">
                <a16:creationId xmlns:a16="http://schemas.microsoft.com/office/drawing/2014/main" id="{C32AFD20-A87A-6E18-27AC-3BE6E144423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57120" y="2442400"/>
            <a:ext cx="5569780" cy="4296568"/>
          </a:xfrm>
          <a:prstGeom prst="rect">
            <a:avLst/>
          </a:prstGeom>
        </p:spPr>
      </p:pic>
      <p:pic>
        <p:nvPicPr>
          <p:cNvPr id="11" name="图片 10">
            <a:extLst>
              <a:ext uri="{FF2B5EF4-FFF2-40B4-BE49-F238E27FC236}">
                <a16:creationId xmlns:a16="http://schemas.microsoft.com/office/drawing/2014/main" id="{52EA492F-DCE5-4606-5BCF-F68093B4D41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88200" y="38866"/>
            <a:ext cx="5003800" cy="19432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8273265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FC6E4B-0F0A-A683-1AF9-D9E32646EA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灯片编号占位符 1">
            <a:extLst>
              <a:ext uri="{FF2B5EF4-FFF2-40B4-BE49-F238E27FC236}">
                <a16:creationId xmlns:a16="http://schemas.microsoft.com/office/drawing/2014/main" id="{DDAFB4EA-59B8-853F-7A65-8209CD0D8F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EC669C-3A94-5645-80F3-ED04B501DFEC}" type="slidenum">
              <a:rPr lang="en-US" altLang="zh-CN" smtClean="0"/>
              <a:pPr/>
              <a:t>21</a:t>
            </a:fld>
            <a:endParaRPr lang="zh-CN" altLang="en-US"/>
          </a:p>
        </p:txBody>
      </p:sp>
      <p:sp>
        <p:nvSpPr>
          <p:cNvPr id="3" name="标题 2">
            <a:extLst>
              <a:ext uri="{FF2B5EF4-FFF2-40B4-BE49-F238E27FC236}">
                <a16:creationId xmlns:a16="http://schemas.microsoft.com/office/drawing/2014/main" id="{0666030B-785A-D27C-210F-FE6E362146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工作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C1805721-C31E-14DF-D6C4-581787D8496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33801" y="1230122"/>
            <a:ext cx="10966163" cy="369332"/>
          </a:xfrm>
        </p:spPr>
        <p:txBody>
          <a:bodyPr/>
          <a:lstStyle/>
          <a:p>
            <a:r>
              <a:rPr lang="zh-CN" altLang="en-US"/>
              <a:t>不同介质的参数估计</a:t>
            </a:r>
          </a:p>
        </p:txBody>
      </p:sp>
      <p:sp>
        <p:nvSpPr>
          <p:cNvPr id="5" name="内容占位符 4">
            <a:extLst>
              <a:ext uri="{FF2B5EF4-FFF2-40B4-BE49-F238E27FC236}">
                <a16:creationId xmlns:a16="http://schemas.microsoft.com/office/drawing/2014/main" id="{06D4C56F-0F48-DD6F-E382-763A62966C0E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696000" y="1860189"/>
            <a:ext cx="11496000" cy="582211"/>
          </a:xfrm>
        </p:spPr>
        <p:txBody>
          <a:bodyPr/>
          <a:lstStyle/>
          <a:p>
            <a:pPr>
              <a:spcAft>
                <a:spcPts val="600"/>
              </a:spcAft>
            </a:pPr>
            <a:r>
              <a:rPr lang="en-US" altLang="zh-CN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HfO</a:t>
            </a:r>
            <a:r>
              <a:rPr lang="en-US" altLang="zh-CN" sz="1600" baseline="-250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2</a:t>
            </a:r>
            <a:r>
              <a:rPr lang="en-US" altLang="zh-CN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 FeRAM</a:t>
            </a:r>
            <a:r>
              <a:rPr lang="zh-CN" altLang="en-US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（</a:t>
            </a:r>
            <a:r>
              <a:rPr lang="en-US" altLang="zh-CN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1T1C</a:t>
            </a:r>
            <a:r>
              <a:rPr lang="zh-CN" altLang="en-US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）</a:t>
            </a:r>
            <a:endParaRPr lang="en-US" altLang="zh-CN" sz="1600">
              <a:solidFill>
                <a:schemeClr val="tx1"/>
              </a:solidFill>
              <a:ea typeface="黑体" panose="02010609060101010101" pitchFamily="49" charset="-122"/>
              <a:cs typeface="Arial" panose="020B0604020202020204" pitchFamily="34" charset="0"/>
            </a:endParaRPr>
          </a:p>
          <a:p>
            <a:pPr>
              <a:spcAft>
                <a:spcPts val="600"/>
              </a:spcAft>
            </a:pPr>
            <a:r>
              <a:rPr lang="zh-CN" altLang="en-US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读写速度都比较可观，整体来说</a:t>
            </a:r>
            <a:r>
              <a:rPr lang="en-US" altLang="zh-CN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RI</a:t>
            </a:r>
            <a:r>
              <a:rPr lang="zh-CN" altLang="en-US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比较稳定在</a:t>
            </a:r>
            <a:r>
              <a:rPr lang="en-US" altLang="zh-CN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~0.2</a:t>
            </a:r>
            <a:r>
              <a:rPr lang="zh-CN" altLang="en-US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附近</a:t>
            </a:r>
            <a:endParaRPr lang="en-US" altLang="zh-CN" sz="1600">
              <a:solidFill>
                <a:schemeClr val="tx1"/>
              </a:solidFill>
              <a:ea typeface="黑体" panose="02010609060101010101" pitchFamily="49" charset="-122"/>
              <a:cs typeface="Arial" panose="020B0604020202020204" pitchFamily="34" charset="0"/>
            </a:endParaRPr>
          </a:p>
        </p:txBody>
      </p:sp>
      <p:pic>
        <p:nvPicPr>
          <p:cNvPr id="7" name="图片 6">
            <a:extLst>
              <a:ext uri="{FF2B5EF4-FFF2-40B4-BE49-F238E27FC236}">
                <a16:creationId xmlns:a16="http://schemas.microsoft.com/office/drawing/2014/main" id="{5BFD0784-596C-EBE0-AE4D-A38274C521F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6617" y="3117850"/>
            <a:ext cx="5779384" cy="3202149"/>
          </a:xfrm>
          <a:prstGeom prst="rect">
            <a:avLst/>
          </a:prstGeom>
        </p:spPr>
      </p:pic>
      <p:pic>
        <p:nvPicPr>
          <p:cNvPr id="9" name="图片 8">
            <a:extLst>
              <a:ext uri="{FF2B5EF4-FFF2-40B4-BE49-F238E27FC236}">
                <a16:creationId xmlns:a16="http://schemas.microsoft.com/office/drawing/2014/main" id="{5195CDCA-4954-B70F-CF70-CF5DCD34E07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62793" y="2442400"/>
            <a:ext cx="5696926" cy="4356473"/>
          </a:xfrm>
          <a:prstGeom prst="rect">
            <a:avLst/>
          </a:prstGeom>
        </p:spPr>
      </p:pic>
      <p:pic>
        <p:nvPicPr>
          <p:cNvPr id="11" name="图片 10">
            <a:extLst>
              <a:ext uri="{FF2B5EF4-FFF2-40B4-BE49-F238E27FC236}">
                <a16:creationId xmlns:a16="http://schemas.microsoft.com/office/drawing/2014/main" id="{6884AFEB-BAF3-9081-7B58-7FD842FC36F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45692" y="0"/>
            <a:ext cx="5046308" cy="17589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2456500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207E6E-BB42-DD09-9696-EC3C33C93E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灯片编号占位符 1">
            <a:extLst>
              <a:ext uri="{FF2B5EF4-FFF2-40B4-BE49-F238E27FC236}">
                <a16:creationId xmlns:a16="http://schemas.microsoft.com/office/drawing/2014/main" id="{FEDD059C-5F60-AA30-DDF0-3E2BD35D8F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EC669C-3A94-5645-80F3-ED04B501DFEC}" type="slidenum">
              <a:rPr lang="en-US" altLang="zh-CN" smtClean="0"/>
              <a:pPr/>
              <a:t>22</a:t>
            </a:fld>
            <a:endParaRPr lang="zh-CN" altLang="en-US"/>
          </a:p>
        </p:txBody>
      </p:sp>
      <p:sp>
        <p:nvSpPr>
          <p:cNvPr id="3" name="标题 2">
            <a:extLst>
              <a:ext uri="{FF2B5EF4-FFF2-40B4-BE49-F238E27FC236}">
                <a16:creationId xmlns:a16="http://schemas.microsoft.com/office/drawing/2014/main" id="{0D1C37B6-C2D3-57FB-11F0-7CBCFE5031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工作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A2AB233C-33A5-8F00-8270-9CC781C832C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33801" y="1230122"/>
            <a:ext cx="10966163" cy="369332"/>
          </a:xfrm>
        </p:spPr>
        <p:txBody>
          <a:bodyPr/>
          <a:lstStyle/>
          <a:p>
            <a:r>
              <a:rPr lang="zh-CN" altLang="en-US"/>
              <a:t>不同介质的参数估计</a:t>
            </a:r>
          </a:p>
        </p:txBody>
      </p:sp>
      <p:sp>
        <p:nvSpPr>
          <p:cNvPr id="5" name="内容占位符 4">
            <a:extLst>
              <a:ext uri="{FF2B5EF4-FFF2-40B4-BE49-F238E27FC236}">
                <a16:creationId xmlns:a16="http://schemas.microsoft.com/office/drawing/2014/main" id="{CAABF6FC-D95D-FB82-140B-754FCEB4EC2C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696000" y="1860189"/>
            <a:ext cx="11496000" cy="582211"/>
          </a:xfrm>
        </p:spPr>
        <p:txBody>
          <a:bodyPr/>
          <a:lstStyle/>
          <a:p>
            <a:pPr>
              <a:spcAft>
                <a:spcPts val="600"/>
              </a:spcAft>
            </a:pPr>
            <a:r>
              <a:rPr lang="en-US" altLang="zh-CN" sz="1600" err="1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eDRAM</a:t>
            </a:r>
            <a:r>
              <a:rPr lang="zh-CN" altLang="en-US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（</a:t>
            </a:r>
            <a:r>
              <a:rPr lang="en-US" altLang="zh-CN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3T1C</a:t>
            </a:r>
            <a:r>
              <a:rPr lang="zh-CN" altLang="en-US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）</a:t>
            </a:r>
            <a:endParaRPr lang="en-US" altLang="zh-CN" sz="1600">
              <a:solidFill>
                <a:schemeClr val="tx1"/>
              </a:solidFill>
              <a:ea typeface="黑体" panose="02010609060101010101" pitchFamily="49" charset="-122"/>
              <a:cs typeface="Arial" panose="020B0604020202020204" pitchFamily="34" charset="0"/>
            </a:endParaRPr>
          </a:p>
          <a:p>
            <a:pPr>
              <a:spcAft>
                <a:spcPts val="600"/>
              </a:spcAft>
            </a:pPr>
            <a:r>
              <a:rPr lang="zh-CN" altLang="en-US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擦写速度很快，读速度受限</a:t>
            </a:r>
            <a:endParaRPr lang="en-US" altLang="zh-CN" sz="1600">
              <a:solidFill>
                <a:schemeClr val="tx1"/>
              </a:solidFill>
              <a:ea typeface="黑体" panose="02010609060101010101" pitchFamily="49" charset="-122"/>
              <a:cs typeface="Arial" panose="020B0604020202020204" pitchFamily="34" charset="0"/>
            </a:endParaRPr>
          </a:p>
        </p:txBody>
      </p:sp>
      <p:pic>
        <p:nvPicPr>
          <p:cNvPr id="7" name="图片 6">
            <a:extLst>
              <a:ext uri="{FF2B5EF4-FFF2-40B4-BE49-F238E27FC236}">
                <a16:creationId xmlns:a16="http://schemas.microsoft.com/office/drawing/2014/main" id="{2529DFF6-23D7-E274-9858-09A6B3776B8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0795" y="3149601"/>
            <a:ext cx="5845205" cy="3316490"/>
          </a:xfrm>
          <a:prstGeom prst="rect">
            <a:avLst/>
          </a:prstGeom>
        </p:spPr>
      </p:pic>
      <p:pic>
        <p:nvPicPr>
          <p:cNvPr id="9" name="图片 8">
            <a:extLst>
              <a:ext uri="{FF2B5EF4-FFF2-40B4-BE49-F238E27FC236}">
                <a16:creationId xmlns:a16="http://schemas.microsoft.com/office/drawing/2014/main" id="{15D2701C-8683-4683-DE4D-3DB3EB89D66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99620" y="2763300"/>
            <a:ext cx="5845204" cy="3992572"/>
          </a:xfrm>
          <a:prstGeom prst="rect">
            <a:avLst/>
          </a:prstGeom>
        </p:spPr>
      </p:pic>
      <p:pic>
        <p:nvPicPr>
          <p:cNvPr id="11" name="图片 10">
            <a:extLst>
              <a:ext uri="{FF2B5EF4-FFF2-40B4-BE49-F238E27FC236}">
                <a16:creationId xmlns:a16="http://schemas.microsoft.com/office/drawing/2014/main" id="{1FF0668E-9B50-931E-BEE2-C4D6D569509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15177" y="91521"/>
            <a:ext cx="5029647" cy="17686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6399163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36A069-3B46-8D78-6F63-614710D034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灯片编号占位符 1">
            <a:extLst>
              <a:ext uri="{FF2B5EF4-FFF2-40B4-BE49-F238E27FC236}">
                <a16:creationId xmlns:a16="http://schemas.microsoft.com/office/drawing/2014/main" id="{14065DED-13E6-84FC-A1D4-1C34E4C000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EC669C-3A94-5645-80F3-ED04B501DFEC}" type="slidenum">
              <a:rPr lang="en-US" altLang="zh-CN" smtClean="0"/>
              <a:pPr/>
              <a:t>23</a:t>
            </a:fld>
            <a:endParaRPr lang="zh-CN" altLang="en-US"/>
          </a:p>
        </p:txBody>
      </p:sp>
      <p:sp>
        <p:nvSpPr>
          <p:cNvPr id="3" name="标题 2">
            <a:extLst>
              <a:ext uri="{FF2B5EF4-FFF2-40B4-BE49-F238E27FC236}">
                <a16:creationId xmlns:a16="http://schemas.microsoft.com/office/drawing/2014/main" id="{5778F0DC-DB67-30FC-8C91-70EC323545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工作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590EADC4-18D9-9665-1926-B22C8CAD492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33801" y="1230122"/>
            <a:ext cx="10966163" cy="369332"/>
          </a:xfrm>
        </p:spPr>
        <p:txBody>
          <a:bodyPr/>
          <a:lstStyle/>
          <a:p>
            <a:r>
              <a:rPr lang="zh-CN" altLang="en-US"/>
              <a:t>不同介质的参数估计</a:t>
            </a:r>
          </a:p>
        </p:txBody>
      </p:sp>
      <p:sp>
        <p:nvSpPr>
          <p:cNvPr id="5" name="内容占位符 4">
            <a:extLst>
              <a:ext uri="{FF2B5EF4-FFF2-40B4-BE49-F238E27FC236}">
                <a16:creationId xmlns:a16="http://schemas.microsoft.com/office/drawing/2014/main" id="{7BBB7E92-C798-1194-E622-96633913FB39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696000" y="1860189"/>
            <a:ext cx="11496000" cy="582211"/>
          </a:xfrm>
        </p:spPr>
        <p:txBody>
          <a:bodyPr/>
          <a:lstStyle/>
          <a:p>
            <a:pPr>
              <a:spcAft>
                <a:spcPts val="600"/>
              </a:spcAft>
            </a:pPr>
            <a:r>
              <a:rPr lang="en-US" altLang="zh-CN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3D FeNOR</a:t>
            </a:r>
            <a:r>
              <a:rPr lang="zh-CN" altLang="en-US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（</a:t>
            </a:r>
            <a:r>
              <a:rPr lang="en-US" altLang="zh-CN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AND SLC</a:t>
            </a:r>
            <a:r>
              <a:rPr lang="zh-CN" altLang="en-US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）</a:t>
            </a:r>
            <a:endParaRPr lang="en-US" altLang="zh-CN" sz="1600">
              <a:solidFill>
                <a:schemeClr val="tx1"/>
              </a:solidFill>
              <a:ea typeface="黑体" panose="02010609060101010101" pitchFamily="49" charset="-122"/>
              <a:cs typeface="Arial" panose="020B0604020202020204" pitchFamily="34" charset="0"/>
            </a:endParaRPr>
          </a:p>
          <a:p>
            <a:pPr>
              <a:spcAft>
                <a:spcPts val="600"/>
              </a:spcAft>
            </a:pPr>
            <a:r>
              <a:rPr lang="zh-CN" altLang="en-US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读写速度基本持平，相对的</a:t>
            </a:r>
            <a:r>
              <a:rPr lang="en-US" altLang="zh-CN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RI</a:t>
            </a:r>
            <a:r>
              <a:rPr lang="zh-CN" altLang="en-US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偏中</a:t>
            </a:r>
            <a:endParaRPr lang="en-US" altLang="zh-CN" sz="1600">
              <a:solidFill>
                <a:schemeClr val="tx1"/>
              </a:solidFill>
              <a:ea typeface="黑体" panose="02010609060101010101" pitchFamily="49" charset="-122"/>
              <a:cs typeface="Arial" panose="020B0604020202020204" pitchFamily="34" charset="0"/>
            </a:endParaRPr>
          </a:p>
        </p:txBody>
      </p:sp>
      <p:pic>
        <p:nvPicPr>
          <p:cNvPr id="7" name="图片 6">
            <a:extLst>
              <a:ext uri="{FF2B5EF4-FFF2-40B4-BE49-F238E27FC236}">
                <a16:creationId xmlns:a16="http://schemas.microsoft.com/office/drawing/2014/main" id="{7EDBB829-B0DE-D0D6-12D0-C07E25A1B3C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4043" y="3225800"/>
            <a:ext cx="5871957" cy="3291119"/>
          </a:xfrm>
          <a:prstGeom prst="rect">
            <a:avLst/>
          </a:prstGeom>
        </p:spPr>
      </p:pic>
      <p:pic>
        <p:nvPicPr>
          <p:cNvPr id="9" name="图片 8">
            <a:extLst>
              <a:ext uri="{FF2B5EF4-FFF2-40B4-BE49-F238E27FC236}">
                <a16:creationId xmlns:a16="http://schemas.microsoft.com/office/drawing/2014/main" id="{3E5D89E6-E916-FBE1-79F8-0AED7C8E422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4936" y="3225800"/>
            <a:ext cx="5853569" cy="3117850"/>
          </a:xfrm>
          <a:prstGeom prst="rect">
            <a:avLst/>
          </a:prstGeom>
        </p:spPr>
      </p:pic>
      <p:pic>
        <p:nvPicPr>
          <p:cNvPr id="11" name="图片 10">
            <a:extLst>
              <a:ext uri="{FF2B5EF4-FFF2-40B4-BE49-F238E27FC236}">
                <a16:creationId xmlns:a16="http://schemas.microsoft.com/office/drawing/2014/main" id="{ECE01430-0BB8-632B-0B44-CF0B26A535B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15180" y="0"/>
            <a:ext cx="4976820" cy="2362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52354487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CAA979-F7CD-0303-3938-F782AB3F74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灯片编号占位符 1">
            <a:extLst>
              <a:ext uri="{FF2B5EF4-FFF2-40B4-BE49-F238E27FC236}">
                <a16:creationId xmlns:a16="http://schemas.microsoft.com/office/drawing/2014/main" id="{274E89B3-FFDE-25C5-02FF-22194B5644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EC669C-3A94-5645-80F3-ED04B501DFEC}" type="slidenum">
              <a:rPr lang="en-US" altLang="zh-CN" smtClean="0"/>
              <a:pPr/>
              <a:t>24</a:t>
            </a:fld>
            <a:endParaRPr lang="zh-CN" altLang="en-US"/>
          </a:p>
        </p:txBody>
      </p:sp>
      <p:sp>
        <p:nvSpPr>
          <p:cNvPr id="3" name="标题 2">
            <a:extLst>
              <a:ext uri="{FF2B5EF4-FFF2-40B4-BE49-F238E27FC236}">
                <a16:creationId xmlns:a16="http://schemas.microsoft.com/office/drawing/2014/main" id="{F7C695B3-CA32-4848-6F9D-CA30E23823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工作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1420C09D-F0DB-B66E-9A21-C2DA31C9C9F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33801" y="1230122"/>
            <a:ext cx="10966163" cy="369332"/>
          </a:xfrm>
        </p:spPr>
        <p:txBody>
          <a:bodyPr/>
          <a:lstStyle/>
          <a:p>
            <a:r>
              <a:rPr lang="zh-CN" altLang="en-US"/>
              <a:t>不同介质的参数估计</a:t>
            </a:r>
          </a:p>
        </p:txBody>
      </p:sp>
      <p:sp>
        <p:nvSpPr>
          <p:cNvPr id="5" name="内容占位符 4">
            <a:extLst>
              <a:ext uri="{FF2B5EF4-FFF2-40B4-BE49-F238E27FC236}">
                <a16:creationId xmlns:a16="http://schemas.microsoft.com/office/drawing/2014/main" id="{00399437-B9BF-0705-7652-9FA6AA162E3D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696000" y="1860189"/>
            <a:ext cx="11496000" cy="246221"/>
          </a:xfrm>
        </p:spPr>
        <p:txBody>
          <a:bodyPr/>
          <a:lstStyle/>
          <a:p>
            <a:pPr>
              <a:spcAft>
                <a:spcPts val="600"/>
              </a:spcAft>
            </a:pPr>
            <a:r>
              <a:rPr lang="zh-CN" altLang="en-US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整体结果</a:t>
            </a:r>
            <a:endParaRPr lang="en-US" altLang="zh-CN" sz="1600">
              <a:solidFill>
                <a:schemeClr val="tx1"/>
              </a:solidFill>
              <a:ea typeface="黑体" panose="02010609060101010101" pitchFamily="49" charset="-122"/>
              <a:cs typeface="Arial" panose="020B0604020202020204" pitchFamily="34" charset="0"/>
            </a:endParaRPr>
          </a:p>
        </p:txBody>
      </p:sp>
      <p:pic>
        <p:nvPicPr>
          <p:cNvPr id="8" name="图片 7">
            <a:extLst>
              <a:ext uri="{FF2B5EF4-FFF2-40B4-BE49-F238E27FC236}">
                <a16:creationId xmlns:a16="http://schemas.microsoft.com/office/drawing/2014/main" id="{03E007CA-99FD-7CB6-1348-2F67A9C2039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67948" y="1790339"/>
            <a:ext cx="9689102" cy="4898425"/>
          </a:xfrm>
          <a:prstGeom prst="rect">
            <a:avLst/>
          </a:prstGeom>
        </p:spPr>
      </p:pic>
      <p:pic>
        <p:nvPicPr>
          <p:cNvPr id="7" name="图片 6">
            <a:extLst>
              <a:ext uri="{FF2B5EF4-FFF2-40B4-BE49-F238E27FC236}">
                <a16:creationId xmlns:a16="http://schemas.microsoft.com/office/drawing/2014/main" id="{E9C79E18-20FD-A393-9AD6-2E8EE63F6A5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53550" y="-5542"/>
            <a:ext cx="3468829" cy="17958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5200751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DC8904-0B7C-D37E-BEFC-C96BC77FB1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灯片编号占位符 1">
            <a:extLst>
              <a:ext uri="{FF2B5EF4-FFF2-40B4-BE49-F238E27FC236}">
                <a16:creationId xmlns:a16="http://schemas.microsoft.com/office/drawing/2014/main" id="{41A3C8FE-7136-10E8-5BB6-B06B94E859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EC669C-3A94-5645-80F3-ED04B501DFEC}" type="slidenum">
              <a:rPr lang="en-US" altLang="zh-CN" smtClean="0"/>
              <a:pPr/>
              <a:t>25</a:t>
            </a:fld>
            <a:endParaRPr lang="zh-CN" altLang="en-US"/>
          </a:p>
        </p:txBody>
      </p:sp>
      <p:sp>
        <p:nvSpPr>
          <p:cNvPr id="3" name="标题 2">
            <a:extLst>
              <a:ext uri="{FF2B5EF4-FFF2-40B4-BE49-F238E27FC236}">
                <a16:creationId xmlns:a16="http://schemas.microsoft.com/office/drawing/2014/main" id="{E23A9575-C0C5-E9BC-5DD3-E162E24A80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工作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3B1A3384-4C55-B195-C3D0-DA1254CF2EE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33801" y="1230122"/>
            <a:ext cx="10966163" cy="369332"/>
          </a:xfrm>
        </p:spPr>
        <p:txBody>
          <a:bodyPr/>
          <a:lstStyle/>
          <a:p>
            <a:r>
              <a:rPr lang="zh-CN" altLang="en-US"/>
              <a:t>不同介质的参数估计</a:t>
            </a:r>
          </a:p>
        </p:txBody>
      </p:sp>
      <p:sp>
        <p:nvSpPr>
          <p:cNvPr id="5" name="内容占位符 4">
            <a:extLst>
              <a:ext uri="{FF2B5EF4-FFF2-40B4-BE49-F238E27FC236}">
                <a16:creationId xmlns:a16="http://schemas.microsoft.com/office/drawing/2014/main" id="{988AAC9B-3317-F15C-0E7D-A7269852DAA9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696000" y="1860189"/>
            <a:ext cx="11496000" cy="246221"/>
          </a:xfrm>
        </p:spPr>
        <p:txBody>
          <a:bodyPr/>
          <a:lstStyle/>
          <a:p>
            <a:pPr>
              <a:spcAft>
                <a:spcPts val="600"/>
              </a:spcAft>
            </a:pPr>
            <a:r>
              <a:rPr lang="zh-CN" altLang="en-US" sz="160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整体结果</a:t>
            </a:r>
            <a:endParaRPr lang="en-US" altLang="zh-CN" sz="1600">
              <a:solidFill>
                <a:schemeClr val="tx1"/>
              </a:solidFill>
              <a:ea typeface="黑体" panose="02010609060101010101" pitchFamily="49" charset="-122"/>
              <a:cs typeface="Arial" panose="020B0604020202020204" pitchFamily="34" charset="0"/>
            </a:endParaRPr>
          </a:p>
        </p:txBody>
      </p:sp>
      <p:pic>
        <p:nvPicPr>
          <p:cNvPr id="7" name="图片 6">
            <a:extLst>
              <a:ext uri="{FF2B5EF4-FFF2-40B4-BE49-F238E27FC236}">
                <a16:creationId xmlns:a16="http://schemas.microsoft.com/office/drawing/2014/main" id="{F3820E80-2D4F-56E6-420A-CFDF2D236F2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29200" y="1784515"/>
            <a:ext cx="9470764" cy="49774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85580659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8006F7-A233-7819-8B4F-023105CDB7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灯片编号占位符 1">
            <a:extLst>
              <a:ext uri="{FF2B5EF4-FFF2-40B4-BE49-F238E27FC236}">
                <a16:creationId xmlns:a16="http://schemas.microsoft.com/office/drawing/2014/main" id="{0D227E9A-C1F8-8AD3-8B8D-6C987F8026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EC669C-3A94-5645-80F3-ED04B501DFEC}" type="slidenum">
              <a:rPr lang="en-US" altLang="zh-CN" smtClean="0"/>
              <a:pPr/>
              <a:t>26</a:t>
            </a:fld>
            <a:endParaRPr lang="zh-CN" altLang="en-US"/>
          </a:p>
        </p:txBody>
      </p:sp>
      <p:sp>
        <p:nvSpPr>
          <p:cNvPr id="3" name="标题 2">
            <a:extLst>
              <a:ext uri="{FF2B5EF4-FFF2-40B4-BE49-F238E27FC236}">
                <a16:creationId xmlns:a16="http://schemas.microsoft.com/office/drawing/2014/main" id="{5055AB68-717E-2733-92C8-6BE1643199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工作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E4EE2750-6657-8F49-4EFA-1156BE54196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33801" y="1230122"/>
            <a:ext cx="10966163" cy="369332"/>
          </a:xfrm>
        </p:spPr>
        <p:txBody>
          <a:bodyPr/>
          <a:lstStyle/>
          <a:p>
            <a:r>
              <a:rPr lang="en-US" altLang="zh-CN" dirty="0"/>
              <a:t>AI</a:t>
            </a:r>
            <a:r>
              <a:rPr lang="zh-CN" altLang="en-US" dirty="0"/>
              <a:t>推理的典型</a:t>
            </a:r>
            <a:r>
              <a:rPr lang="en-US" altLang="zh-CN" dirty="0"/>
              <a:t>workload</a:t>
            </a:r>
            <a:r>
              <a:rPr lang="zh-CN" altLang="en-US" dirty="0"/>
              <a:t>分析</a:t>
            </a:r>
          </a:p>
        </p:txBody>
      </p:sp>
      <p:sp>
        <p:nvSpPr>
          <p:cNvPr id="5" name="内容占位符 4">
            <a:extLst>
              <a:ext uri="{FF2B5EF4-FFF2-40B4-BE49-F238E27FC236}">
                <a16:creationId xmlns:a16="http://schemas.microsoft.com/office/drawing/2014/main" id="{9BC72FD4-F934-7212-E7AB-B36B2B9AEAF1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696000" y="1860189"/>
            <a:ext cx="11496000" cy="246221"/>
          </a:xfrm>
        </p:spPr>
        <p:txBody>
          <a:bodyPr/>
          <a:lstStyle/>
          <a:p>
            <a:pPr>
              <a:spcAft>
                <a:spcPts val="600"/>
              </a:spcAft>
            </a:pPr>
            <a:r>
              <a:rPr lang="zh-CN" altLang="en-US" sz="1600" dirty="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进一步的，我们可以估算不同的算法任务的需求，即 </a:t>
            </a:r>
            <a:r>
              <a:rPr lang="en-US" altLang="zh-CN" sz="1600" dirty="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Qs</a:t>
            </a:r>
            <a:r>
              <a:rPr lang="zh-CN" altLang="en-US" sz="1600" dirty="0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 </a:t>
            </a:r>
            <a:r>
              <a:rPr lang="en-US" altLang="zh-CN" sz="1600" dirty="0" err="1">
                <a:solidFill>
                  <a:schemeClr val="tx1"/>
                </a:solidFill>
                <a:ea typeface="黑体" panose="02010609060101010101" pitchFamily="49" charset="-122"/>
                <a:cs typeface="Arial" panose="020B0604020202020204" pitchFamily="34" charset="0"/>
              </a:rPr>
              <a:t>Qr</a:t>
            </a:r>
            <a:endParaRPr lang="en-US" altLang="zh-CN" sz="1600" dirty="0">
              <a:solidFill>
                <a:schemeClr val="tx1"/>
              </a:solidFill>
              <a:ea typeface="黑体" panose="02010609060101010101" pitchFamily="49" charset="-122"/>
              <a:cs typeface="Arial" panose="020B0604020202020204" pitchFamily="34" charset="0"/>
            </a:endParaRPr>
          </a:p>
        </p:txBody>
      </p:sp>
      <p:pic>
        <p:nvPicPr>
          <p:cNvPr id="6" name="图片 5">
            <a:extLst>
              <a:ext uri="{FF2B5EF4-FFF2-40B4-BE49-F238E27FC236}">
                <a16:creationId xmlns:a16="http://schemas.microsoft.com/office/drawing/2014/main" id="{D3CFB818-D29C-FF79-7048-4D29E2839F1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560" y="3116871"/>
            <a:ext cx="6019800" cy="1634720"/>
          </a:xfrm>
          <a:prstGeom prst="rect">
            <a:avLst/>
          </a:prstGeom>
        </p:spPr>
      </p:pic>
      <p:pic>
        <p:nvPicPr>
          <p:cNvPr id="10" name="图片 9">
            <a:extLst>
              <a:ext uri="{FF2B5EF4-FFF2-40B4-BE49-F238E27FC236}">
                <a16:creationId xmlns:a16="http://schemas.microsoft.com/office/drawing/2014/main" id="{CCB26D37-53AC-B580-00F9-D53D93CF60D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24360" y="3272851"/>
            <a:ext cx="5991440" cy="3426384"/>
          </a:xfrm>
          <a:prstGeom prst="rect">
            <a:avLst/>
          </a:prstGeom>
        </p:spPr>
      </p:pic>
      <p:pic>
        <p:nvPicPr>
          <p:cNvPr id="13" name="图片 12">
            <a:extLst>
              <a:ext uri="{FF2B5EF4-FFF2-40B4-BE49-F238E27FC236}">
                <a16:creationId xmlns:a16="http://schemas.microsoft.com/office/drawing/2014/main" id="{9ABEB855-FB48-A316-33C1-99411337F2D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0000" y="4986043"/>
            <a:ext cx="5808133" cy="8588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29090939"/>
      </p:ext>
    </p:extLst>
  </p:cSld>
  <p:clrMapOvr>
    <a:masterClrMapping/>
  </p:clrMapOvr>
</p:sld>
</file>

<file path=ppt/theme/theme1.xml><?xml version="1.0" encoding="utf-8"?>
<a:theme xmlns:a="http://schemas.openxmlformats.org/drawingml/2006/main" name="Normal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Normal" id="{5D8C14A8-C438-4388-9D5F-E23EA9C665EC}" vid="{255273D1-3B83-4E5C-AF9B-785BEE898C45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7</TotalTime>
  <Words>2694</Words>
  <Application>Microsoft Office PowerPoint</Application>
  <PresentationFormat>宽屏</PresentationFormat>
  <Paragraphs>223</Paragraphs>
  <Slides>27</Slides>
  <Notes>1</Notes>
  <HiddenSlides>0</HiddenSlides>
  <MMClips>0</MMClips>
  <ScaleCrop>false</ScaleCrop>
  <HeadingPairs>
    <vt:vector size="6" baseType="variant">
      <vt:variant>
        <vt:lpstr>已用的字体</vt:lpstr>
      </vt:variant>
      <vt:variant>
        <vt:i4>6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27</vt:i4>
      </vt:variant>
    </vt:vector>
  </HeadingPairs>
  <TitlesOfParts>
    <vt:vector size="34" baseType="lpstr">
      <vt:lpstr>等线</vt:lpstr>
      <vt:lpstr>黑体</vt:lpstr>
      <vt:lpstr>Arial</vt:lpstr>
      <vt:lpstr>Calibri</vt:lpstr>
      <vt:lpstr>Cambria Math</vt:lpstr>
      <vt:lpstr>Times New Roman</vt:lpstr>
      <vt:lpstr>Normal</vt:lpstr>
      <vt:lpstr>CIM Roofline</vt:lpstr>
      <vt:lpstr>工作</vt:lpstr>
      <vt:lpstr>工作</vt:lpstr>
      <vt:lpstr>工作</vt:lpstr>
      <vt:lpstr>工作</vt:lpstr>
      <vt:lpstr>工作</vt:lpstr>
      <vt:lpstr>工作</vt:lpstr>
      <vt:lpstr>工作</vt:lpstr>
      <vt:lpstr>工作</vt:lpstr>
      <vt:lpstr>工作</vt:lpstr>
      <vt:lpstr>工作</vt:lpstr>
      <vt:lpstr>工作</vt:lpstr>
      <vt:lpstr>工作</vt:lpstr>
      <vt:lpstr>工作</vt:lpstr>
      <vt:lpstr>工作</vt:lpstr>
      <vt:lpstr>工作</vt:lpstr>
      <vt:lpstr>工作</vt:lpstr>
      <vt:lpstr>工作</vt:lpstr>
      <vt:lpstr>工作</vt:lpstr>
      <vt:lpstr>工作</vt:lpstr>
      <vt:lpstr>工作</vt:lpstr>
      <vt:lpstr>工作</vt:lpstr>
      <vt:lpstr>工作</vt:lpstr>
      <vt:lpstr>工作</vt:lpstr>
      <vt:lpstr>工作</vt:lpstr>
      <vt:lpstr>工作</vt:lpstr>
      <vt:lpstr>工作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Shaw HanY</dc:creator>
  <cp:lastModifiedBy>HanY Shaw</cp:lastModifiedBy>
  <cp:revision>1</cp:revision>
  <dcterms:created xsi:type="dcterms:W3CDTF">2025-05-15T02:23:24Z</dcterms:created>
  <dcterms:modified xsi:type="dcterms:W3CDTF">2026-09-22T09:33:01Z</dcterms:modified>
</cp:coreProperties>
</file>